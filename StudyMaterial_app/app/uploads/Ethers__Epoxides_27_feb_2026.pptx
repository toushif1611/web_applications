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sldIdLst>
    <p:sldId id="420" r:id="rId4"/>
    <p:sldId id="421" r:id="rId6"/>
    <p:sldId id="419" r:id="rId7"/>
    <p:sldId id="418" r:id="rId8"/>
    <p:sldId id="559" r:id="rId9"/>
    <p:sldId id="637" r:id="rId10"/>
    <p:sldId id="638" r:id="rId11"/>
    <p:sldId id="639" r:id="rId12"/>
    <p:sldId id="640" r:id="rId13"/>
    <p:sldId id="628" r:id="rId14"/>
    <p:sldId id="629" r:id="rId15"/>
    <p:sldId id="641" r:id="rId16"/>
    <p:sldId id="630" r:id="rId17"/>
    <p:sldId id="631" r:id="rId18"/>
    <p:sldId id="632" r:id="rId19"/>
    <p:sldId id="633" r:id="rId20"/>
    <p:sldId id="634" r:id="rId21"/>
    <p:sldId id="643" r:id="rId22"/>
    <p:sldId id="642" r:id="rId23"/>
    <p:sldId id="644" r:id="rId24"/>
    <p:sldId id="645" r:id="rId25"/>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206" userDrawn="1">
          <p15:clr>
            <a:srgbClr val="A4A3A4"/>
          </p15:clr>
        </p15:guide>
        <p15:guide id="2" pos="287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79" d="100"/>
          <a:sy n="79" d="100"/>
        </p:scale>
        <p:origin x="-1469" y="-62"/>
      </p:cViewPr>
      <p:guideLst>
        <p:guide orient="horz" pos="2206"/>
        <p:guide pos="2877"/>
      </p:guideLst>
    </p:cSldViewPr>
  </p:slideViewPr>
  <p:notesTextViewPr>
    <p:cViewPr>
      <p:scale>
        <a:sx n="1" d="1"/>
        <a:sy n="1" d="1"/>
      </p:scale>
      <p:origin x="0" y="0"/>
    </p:cViewPr>
  </p:notesTextViewPr>
  <p:sorterViewPr showFormatting="0">
    <p:cViewPr>
      <p:scale>
        <a:sx n="70" d="100"/>
        <a:sy n="70" d="100"/>
      </p:scale>
      <p:origin x="0" y="7747"/>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white">
      <p:bgRef idx="1001">
        <a:schemeClr val="bg1"/>
      </p:bgRef>
    </p:bg>
    <p:spTree>
      <p:nvGrpSpPr>
        <p:cNvPr id="1" name=""/>
        <p:cNvGrpSpPr/>
        <p:nvPr/>
      </p:nvGrpSpPr>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fld id="{579255A9-DFD2-4F84-A170-AE6662D65576}" type="datetimeFigureOut">
              <a:rPr kumimoji="0" lang="en-IN" sz="1200" b="0" i="0" u="none" strike="noStrike" kern="1200" cap="none" spc="0" normalizeH="0" baseline="0" noProof="0" smtClean="0">
                <a:ln>
                  <a:noFill/>
                </a:ln>
                <a:solidFill>
                  <a:schemeClr val="tx1"/>
                </a:solidFill>
                <a:effectLst/>
                <a:uLnTx/>
                <a:uFillTx/>
                <a:latin typeface="+mn-lt"/>
                <a:ea typeface="+mn-ea"/>
                <a:cs typeface="+mn-cs"/>
              </a:rPr>
            </a:fld>
            <a:endParaRPr kumimoji="0" lang="en-IN"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Click to edit Master text styles</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Fifth level</a:t>
            </a: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p>
            <a:pPr lvl="0" algn="r" fontAlgn="base">
              <a:buNone/>
            </a:pPr>
            <a:fld id="{9A0DB2DC-4C9A-4742-B13C-FB6460FD3503}" type="slidenum">
              <a:rPr lang="en-IN" altLang="x-none" sz="1200" strike="noStrike" noProof="1" dirty="0">
                <a:latin typeface="Arial" panose="020B0604020202020204" pitchFamily="34" charset="0"/>
                <a:ea typeface="Arial" panose="020B0604020202020204" pitchFamily="34" charset="0"/>
                <a:cs typeface="+mn-cs"/>
              </a:rPr>
            </a:fld>
            <a:endParaRPr lang="en-IN" altLang="x-none" sz="1200" strike="noStrike" noProof="1" dirty="0"/>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Slide Image Placeholder 1"/>
          <p:cNvSpPr>
            <a:spLocks noGrp="1" noRot="1" noChangeAspect="1" noTextEdit="1"/>
          </p:cNvSpPr>
          <p:nvPr>
            <p:ph type="sldImg"/>
          </p:nvPr>
        </p:nvSpPr>
        <p:spPr>
          <a:ln>
            <a:solidFill>
              <a:srgbClr val="000000"/>
            </a:solidFill>
            <a:miter/>
          </a:ln>
        </p:spPr>
      </p:sp>
      <p:sp>
        <p:nvSpPr>
          <p:cNvPr id="7170" name="Notes Placeholder 2"/>
          <p:cNvSpPr>
            <a:spLocks noGrp="1"/>
          </p:cNvSpPr>
          <p:nvPr>
            <p:ph type="body"/>
          </p:nvPr>
        </p:nvSpPr>
        <p:spPr>
          <a:noFill/>
          <a:ln>
            <a:noFill/>
          </a:ln>
        </p:spPr>
        <p:txBody>
          <a:bodyPr wrap="square" lIns="91440" tIns="45720" rIns="91440" bIns="45720" anchor="t" anchorCtr="0"/>
          <a:p>
            <a:pPr lvl="0"/>
            <a:endParaRPr lang="en-US" altLang="en-US" dirty="0"/>
          </a:p>
        </p:txBody>
      </p:sp>
      <p:sp>
        <p:nvSpPr>
          <p:cNvPr id="7171" name="Slide Number Placeholder 3"/>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en-US" sz="1800" dirty="0">
                <a:latin typeface="Times New Roman" panose="02020603050405020304" charset="0"/>
              </a:rPr>
            </a:fld>
            <a:endParaRPr lang="en-US" altLang="en-US" sz="1800" dirty="0">
              <a:latin typeface="Times New Roman" panose="0202060305040502030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pPr fontAlgn="base"/>
            <a:r>
              <a:rPr lang="en-US" strike="noStrike" noProof="1" smtClean="0"/>
              <a:t>Click to edit Master title style</a:t>
            </a:r>
            <a:endParaRPr lang="en-US" strike="noStrike" noProof="1"/>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en-US" strike="noStrike" noProof="1" smtClean="0"/>
              <a:t>Click to edit Master subtitle style</a:t>
            </a:r>
            <a:endParaRPr lang="en-US" strike="noStrike" noProof="1"/>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422DEBF-BFA9-45F9-A651-C3F82E8C089C}" type="datetimeFigureOut">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422DEBF-BFA9-45F9-A651-C3F82E8C089C}" type="datetimeFigureOut">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en-US" strike="noStrike" noProof="1" smtClean="0"/>
              <a:t>Click to edit Master text styles</a:t>
            </a:r>
            <a:endParaRPr lang="en-US" strike="noStrike" noProof="1" smtClean="0"/>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422DEBF-BFA9-45F9-A651-C3F82E8C089C}" type="datetimeFigureOut">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sz="half" idx="1"/>
          </p:nvPr>
        </p:nvSpPr>
        <p:spPr>
          <a:xfrm>
            <a:off x="457200" y="1600200"/>
            <a:ext cx="4032504" cy="4525963"/>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Content Placeholder 3"/>
          <p:cNvSpPr>
            <a:spLocks noGrp="1"/>
          </p:cNvSpPr>
          <p:nvPr>
            <p:ph sz="half" idx="2"/>
          </p:nvPr>
        </p:nvSpPr>
        <p:spPr>
          <a:xfrm>
            <a:off x="4654296" y="1600200"/>
            <a:ext cx="4032504" cy="4525963"/>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422DEBF-BFA9-45F9-A651-C3F82E8C089C}" type="datetimeFigureOut">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strike="noStrike" noProof="1" smtClean="0"/>
              <a:t>Click to edit Master text styles</a:t>
            </a:r>
            <a:endParaRPr lang="en-US" strike="noStrike" noProof="1" smtClean="0"/>
          </a:p>
        </p:txBody>
      </p:sp>
      <p:sp>
        <p:nvSpPr>
          <p:cNvPr id="4" name="Content Placeholder 3"/>
          <p:cNvSpPr>
            <a:spLocks noGrp="1"/>
          </p:cNvSpPr>
          <p:nvPr>
            <p:ph sz="half" idx="2"/>
          </p:nvPr>
        </p:nvSpPr>
        <p:spPr>
          <a:xfrm>
            <a:off x="629841" y="2505075"/>
            <a:ext cx="3868340"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strike="noStrike" noProof="1" smtClean="0"/>
              <a:t>Click to edit Master text styles</a:t>
            </a:r>
            <a:endParaRPr lang="en-US" strike="noStrike" noProof="1" smtClean="0"/>
          </a:p>
        </p:txBody>
      </p:sp>
      <p:sp>
        <p:nvSpPr>
          <p:cNvPr id="6" name="Content Placeholder 5"/>
          <p:cNvSpPr>
            <a:spLocks noGrp="1"/>
          </p:cNvSpPr>
          <p:nvPr>
            <p:ph sz="quarter" idx="4"/>
          </p:nvPr>
        </p:nvSpPr>
        <p:spPr>
          <a:xfrm>
            <a:off x="4629150" y="2505075"/>
            <a:ext cx="3887391"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7" name="Date Placeholder 6"/>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422DEBF-BFA9-45F9-A651-C3F82E8C089C}" type="datetimeFigureOut">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Date Placeholder 2"/>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422DEBF-BFA9-45F9-A651-C3F82E8C089C}" type="datetimeFigureOut">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422DEBF-BFA9-45F9-A651-C3F82E8C089C}" type="datetimeFigureOut">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strike="noStrike" noProof="1" smtClean="0"/>
              <a:t>Click to edit Master text styles</a:t>
            </a:r>
            <a:endParaRPr lang="en-US" strike="noStrike" noProof="1" smtClean="0"/>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422DEBF-BFA9-45F9-A651-C3F82E8C089C}" type="datetimeFigureOut">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strike="noStrike" noProof="1" smtClean="0"/>
              <a:t>Click to edit Master title style</a:t>
            </a:r>
            <a:endParaRPr lang="en-US" strike="noStrike" noProof="1"/>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strike="noStrike" noProof="1" smtClean="0"/>
              <a:t>Click to edit Master text styles</a:t>
            </a:r>
            <a:endParaRPr lang="en-US" strike="noStrike" noProof="1" smtClean="0"/>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422DEBF-BFA9-45F9-A651-C3F82E8C089C}" type="datetimeFigureOut">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422DEBF-BFA9-45F9-A651-C3F82E8C089C}" type="datetimeFigureOut">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a:xfrm>
            <a:off x="457200" y="274638"/>
            <a:ext cx="6052930" cy="5851525"/>
          </a:xfrm>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422DEBF-BFA9-45F9-A651-C3F82E8C089C}" type="datetimeFigureOut">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1422DEBF-BFA9-45F9-A651-C3F82E8C089C}" type="datetimeFigureOut">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pPr fontAlgn="base"/>
            <a:r>
              <a:rPr lang="en-US" strike="noStrike" noProof="1" smtClean="0"/>
              <a:t>Click to edit Master title style</a:t>
            </a:r>
            <a:endParaRPr lang="en-US" strike="noStrike" noProof="1"/>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en-US" strike="noStrike" noProof="1" smtClean="0"/>
              <a:t>Click to edit Master subtitle style</a:t>
            </a:r>
            <a:endParaRPr lang="en-US" strike="noStrike" noProof="1"/>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422DEBF-BFA9-45F9-A651-C3F82E8C089C}" type="datetimeFigureOut">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422DEBF-BFA9-45F9-A651-C3F82E8C089C}" type="datetimeFigureOut">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en-US" strike="noStrike" noProof="1" smtClean="0"/>
              <a:t>Click to edit Master text styles</a:t>
            </a:r>
            <a:endParaRPr lang="en-US" strike="noStrike" noProof="1" smtClean="0"/>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422DEBF-BFA9-45F9-A651-C3F82E8C089C}" type="datetimeFigureOut">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sz="half" idx="1"/>
          </p:nvPr>
        </p:nvSpPr>
        <p:spPr>
          <a:xfrm>
            <a:off x="457200" y="1600200"/>
            <a:ext cx="4032504" cy="4525963"/>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Content Placeholder 3"/>
          <p:cNvSpPr>
            <a:spLocks noGrp="1"/>
          </p:cNvSpPr>
          <p:nvPr>
            <p:ph sz="half" idx="2"/>
          </p:nvPr>
        </p:nvSpPr>
        <p:spPr>
          <a:xfrm>
            <a:off x="4654296" y="1600200"/>
            <a:ext cx="4032504" cy="4525963"/>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422DEBF-BFA9-45F9-A651-C3F82E8C089C}" type="datetimeFigureOut">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strike="noStrike" noProof="1" smtClean="0"/>
              <a:t>Click to edit Master text styles</a:t>
            </a:r>
            <a:endParaRPr lang="en-US" strike="noStrike" noProof="1" smtClean="0"/>
          </a:p>
        </p:txBody>
      </p:sp>
      <p:sp>
        <p:nvSpPr>
          <p:cNvPr id="4" name="Content Placeholder 3"/>
          <p:cNvSpPr>
            <a:spLocks noGrp="1"/>
          </p:cNvSpPr>
          <p:nvPr>
            <p:ph sz="half" idx="2"/>
          </p:nvPr>
        </p:nvSpPr>
        <p:spPr>
          <a:xfrm>
            <a:off x="629841" y="2505075"/>
            <a:ext cx="3868340"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strike="noStrike" noProof="1" smtClean="0"/>
              <a:t>Click to edit Master text styles</a:t>
            </a:r>
            <a:endParaRPr lang="en-US" strike="noStrike" noProof="1" smtClean="0"/>
          </a:p>
        </p:txBody>
      </p:sp>
      <p:sp>
        <p:nvSpPr>
          <p:cNvPr id="6" name="Content Placeholder 5"/>
          <p:cNvSpPr>
            <a:spLocks noGrp="1"/>
          </p:cNvSpPr>
          <p:nvPr>
            <p:ph sz="quarter" idx="4"/>
          </p:nvPr>
        </p:nvSpPr>
        <p:spPr>
          <a:xfrm>
            <a:off x="4629150" y="2505075"/>
            <a:ext cx="3887391"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7" name="Date Placeholder 6"/>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422DEBF-BFA9-45F9-A651-C3F82E8C089C}" type="datetimeFigureOut">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Date Placeholder 2"/>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422DEBF-BFA9-45F9-A651-C3F82E8C089C}" type="datetimeFigureOut">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422DEBF-BFA9-45F9-A651-C3F82E8C089C}" type="datetimeFigureOut">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strike="noStrike" noProof="1" smtClean="0"/>
              <a:t>Click to edit Master text styles</a:t>
            </a:r>
            <a:endParaRPr lang="en-US" strike="noStrike" noProof="1" smtClean="0"/>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422DEBF-BFA9-45F9-A651-C3F82E8C089C}" type="datetimeFigureOut">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strike="noStrike" noProof="1" smtClean="0"/>
              <a:t>Click to edit Master title style</a:t>
            </a:r>
            <a:endParaRPr lang="en-US" strike="noStrike" noProof="1"/>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strike="noStrike" noProof="1" smtClean="0"/>
              <a:t>Click to edit Master text styles</a:t>
            </a:r>
            <a:endParaRPr lang="en-US" strike="noStrike" noProof="1" smtClean="0"/>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422DEBF-BFA9-45F9-A651-C3F82E8C089C}" type="datetimeFigureOut">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422DEBF-BFA9-45F9-A651-C3F82E8C089C}" type="datetimeFigureOut">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a:xfrm>
            <a:off x="457200" y="274638"/>
            <a:ext cx="6052930" cy="5851525"/>
          </a:xfrm>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422DEBF-BFA9-45F9-A651-C3F82E8C089C}" type="datetimeFigureOut">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1422DEBF-BFA9-45F9-A651-C3F82E8C089C}" type="datetimeFigureOut">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Title 1025"/>
          <p:cNvSpPr/>
          <p:nvPr>
            <p:ph type="title"/>
          </p:nvPr>
        </p:nvSpPr>
        <p:spPr>
          <a:xfrm>
            <a:off x="457200" y="274638"/>
            <a:ext cx="8229600" cy="1143000"/>
          </a:xfrm>
          <a:prstGeom prst="rect">
            <a:avLst/>
          </a:prstGeom>
          <a:noFill/>
          <a:ln w="9525">
            <a:noFill/>
          </a:ln>
        </p:spPr>
        <p:txBody>
          <a:bodyPr anchor="ctr" anchorCtr="0"/>
          <a:p>
            <a:pPr lvl="0"/>
            <a:r>
              <a:rPr lang="en-US"/>
              <a:t>Click to edit Master title style</a:t>
            </a:r>
            <a:endParaRPr lang="en-US"/>
          </a:p>
        </p:txBody>
      </p:sp>
      <p:sp>
        <p:nvSpPr>
          <p:cNvPr id="3075" name="Text Placeholder 1026"/>
          <p:cNvSpPr/>
          <p:nvPr>
            <p:ph type="body"/>
          </p:nvPr>
        </p:nvSpPr>
        <p:spPr>
          <a:xfrm>
            <a:off x="457200" y="1600200"/>
            <a:ext cx="8229600" cy="4525963"/>
          </a:xfrm>
          <a:prstGeom prst="rect">
            <a:avLst/>
          </a:prstGeom>
          <a:noFill/>
          <a:ln w="9525">
            <a:noFill/>
          </a:ln>
        </p:spPr>
        <p:txBody>
          <a:bodyPr anchor="t" anchorCtr="0"/>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28" name="Date Placeholder 1027"/>
          <p:cNvSpPr/>
          <p:nvPr>
            <p:ph type="dt" sz="half" idx="2"/>
          </p:nvPr>
        </p:nvSpPr>
        <p:spPr>
          <a:xfrm>
            <a:off x="457200" y="6245225"/>
            <a:ext cx="2133600" cy="476250"/>
          </a:xfrm>
          <a:prstGeom prst="rect">
            <a:avLst/>
          </a:prstGeom>
          <a:noFill/>
          <a:ln w="9525">
            <a:noFill/>
          </a:ln>
        </p:spPr>
        <p:txBody>
          <a:bodyPr/>
          <a:lstStyle>
            <a:lvl1pPr>
              <a:defRPr sz="1400"/>
            </a:lvl1pPr>
          </a:lstStyle>
          <a:p>
            <a:pPr marL="0" marR="0" lvl="0" indent="0" algn="l" defTabSz="914400" rtl="0" eaLnBrk="1" fontAlgn="auto" latinLnBrk="0" hangingPunct="1">
              <a:lnSpc>
                <a:spcPct val="100000"/>
              </a:lnSpc>
              <a:spcBef>
                <a:spcPts val="0"/>
              </a:spcBef>
              <a:spcAft>
                <a:spcPts val="0"/>
              </a:spcAft>
              <a:buClrTx/>
              <a:buSzTx/>
              <a:buFontTx/>
              <a:buNone/>
              <a:defRPr/>
            </a:pPr>
            <a:fld id="{1422DEBF-BFA9-45F9-A651-C3F82E8C089C}" type="datetimeFigureOut">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29" name="Footer Placeholder 1028"/>
          <p:cNvSpPr/>
          <p:nvPr>
            <p:ph type="ftr" sz="quarter" idx="3"/>
          </p:nvPr>
        </p:nvSpPr>
        <p:spPr>
          <a:xfrm>
            <a:off x="3124200" y="6245225"/>
            <a:ext cx="2895600" cy="476250"/>
          </a:xfrm>
          <a:prstGeom prst="rect">
            <a:avLst/>
          </a:prstGeom>
          <a:noFill/>
          <a:ln w="9525">
            <a:noFill/>
          </a:ln>
        </p:spPr>
        <p:txBody>
          <a:bodyPr/>
          <a:lstStyle>
            <a:lvl1pPr algn="ctr">
              <a:defRPr sz="1400"/>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30" name="Slide Number Placeholder 1029"/>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Title 1025"/>
          <p:cNvSpPr/>
          <p:nvPr>
            <p:ph type="title"/>
          </p:nvPr>
        </p:nvSpPr>
        <p:spPr>
          <a:xfrm>
            <a:off x="457200" y="274638"/>
            <a:ext cx="8229600" cy="1143000"/>
          </a:xfrm>
          <a:prstGeom prst="rect">
            <a:avLst/>
          </a:prstGeom>
          <a:noFill/>
          <a:ln w="9525">
            <a:noFill/>
          </a:ln>
        </p:spPr>
        <p:txBody>
          <a:bodyPr anchor="ctr" anchorCtr="0"/>
          <a:p>
            <a:pPr lvl="0"/>
            <a:r>
              <a:rPr lang="en-US"/>
              <a:t>Click to edit Master title style</a:t>
            </a:r>
            <a:endParaRPr lang="en-US"/>
          </a:p>
        </p:txBody>
      </p:sp>
      <p:sp>
        <p:nvSpPr>
          <p:cNvPr id="4099" name="Text Placeholder 1026"/>
          <p:cNvSpPr/>
          <p:nvPr>
            <p:ph type="body"/>
          </p:nvPr>
        </p:nvSpPr>
        <p:spPr>
          <a:xfrm>
            <a:off x="457200" y="1600200"/>
            <a:ext cx="8229600" cy="4525963"/>
          </a:xfrm>
          <a:prstGeom prst="rect">
            <a:avLst/>
          </a:prstGeom>
          <a:noFill/>
          <a:ln w="9525">
            <a:noFill/>
          </a:ln>
        </p:spPr>
        <p:txBody>
          <a:bodyPr anchor="t" anchorCtr="0"/>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28" name="Date Placeholder 1027"/>
          <p:cNvSpPr/>
          <p:nvPr>
            <p:ph type="dt" sz="half" idx="2"/>
          </p:nvPr>
        </p:nvSpPr>
        <p:spPr>
          <a:xfrm>
            <a:off x="457200" y="6245225"/>
            <a:ext cx="2133600" cy="476250"/>
          </a:xfrm>
          <a:prstGeom prst="rect">
            <a:avLst/>
          </a:prstGeom>
          <a:noFill/>
          <a:ln w="9525">
            <a:noFill/>
          </a:ln>
        </p:spPr>
        <p:txBody>
          <a:bodyPr/>
          <a:lstStyle>
            <a:lvl1pPr>
              <a:defRPr sz="1400"/>
            </a:lvl1pPr>
          </a:lstStyle>
          <a:p>
            <a:pPr marL="0" marR="0" lvl="0" indent="0" algn="l" defTabSz="914400" rtl="0" eaLnBrk="1" fontAlgn="auto" latinLnBrk="0" hangingPunct="1">
              <a:lnSpc>
                <a:spcPct val="100000"/>
              </a:lnSpc>
              <a:spcBef>
                <a:spcPts val="0"/>
              </a:spcBef>
              <a:spcAft>
                <a:spcPts val="0"/>
              </a:spcAft>
              <a:buClrTx/>
              <a:buSzTx/>
              <a:buFontTx/>
              <a:buNone/>
              <a:defRPr/>
            </a:pPr>
            <a:fld id="{1422DEBF-BFA9-45F9-A651-C3F82E8C089C}" type="datetimeFigureOut">
              <a:rPr kumimoji="0" lang="en-IN"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29" name="Footer Placeholder 1028"/>
          <p:cNvSpPr/>
          <p:nvPr>
            <p:ph type="ftr" sz="quarter" idx="3"/>
          </p:nvPr>
        </p:nvSpPr>
        <p:spPr>
          <a:xfrm>
            <a:off x="3124200" y="6245225"/>
            <a:ext cx="2895600" cy="476250"/>
          </a:xfrm>
          <a:prstGeom prst="rect">
            <a:avLst/>
          </a:prstGeom>
          <a:noFill/>
          <a:ln w="9525">
            <a:noFill/>
          </a:ln>
        </p:spPr>
        <p:txBody>
          <a:bodyPr/>
          <a:lstStyle>
            <a:lvl1pPr algn="ctr">
              <a:defRPr sz="1400"/>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30" name="Slide Number Placeholder 1029"/>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9.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emf"/></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emf"/><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emf"/><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emf"/></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emf"/></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emf"/></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emf"/></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emf"/></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emf"/></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emf"/><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image" Target="../media/image17.emf"/></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2.png"/><Relationship Id="rId2" Type="http://schemas.openxmlformats.org/officeDocument/2006/relationships/image" Target="../media/image21.emf"/><Relationship Id="rId1" Type="http://schemas.openxmlformats.org/officeDocument/2006/relationships/image" Target="../media/image20.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itle 1"/>
          <p:cNvSpPr>
            <a:spLocks noGrp="1"/>
          </p:cNvSpPr>
          <p:nvPr>
            <p:ph type="ctrTitle"/>
          </p:nvPr>
        </p:nvSpPr>
        <p:spPr>
          <a:xfrm>
            <a:off x="914400" y="381000"/>
            <a:ext cx="7772400" cy="1470025"/>
          </a:xfrm>
        </p:spPr>
        <p:txBody>
          <a:bodyPr vert="horz" wrap="square" lIns="91440" tIns="45720" rIns="91440" bIns="45720" anchor="ctr" anchorCtr="0"/>
          <a:lstStyle>
            <a:lvl1pPr lvl="0">
              <a:buClrTx/>
              <a:buSzTx/>
              <a:buFontTx/>
              <a:defRPr/>
            </a:lvl1pPr>
          </a:lstStyle>
          <a:p>
            <a:pPr lvl="0"/>
            <a:r>
              <a:rPr lang="en-US" altLang="en-US" b="1" dirty="0">
                <a:latin typeface="Times New Roman" panose="02020603050405020304" charset="0"/>
                <a:ea typeface="Times New Roman" panose="02020603050405020304" charset="0"/>
              </a:rPr>
              <a:t>Ethers &amp; Epoxides</a:t>
            </a:r>
            <a:endParaRPr lang="en-US" altLang="en-US" b="1" dirty="0">
              <a:latin typeface="Times New Roman" panose="02020603050405020304" charset="0"/>
              <a:ea typeface="Times New Roman" panose="02020603050405020304" charset="0"/>
            </a:endParaRPr>
          </a:p>
        </p:txBody>
      </p:sp>
      <p:sp>
        <p:nvSpPr>
          <p:cNvPr id="6146" name="Subtitle 2"/>
          <p:cNvSpPr>
            <a:spLocks noGrp="1"/>
          </p:cNvSpPr>
          <p:nvPr>
            <p:ph type="subTitle"/>
          </p:nvPr>
        </p:nvSpPr>
        <p:spPr>
          <a:xfrm>
            <a:off x="531813" y="3414713"/>
            <a:ext cx="8154987" cy="2540000"/>
          </a:xfrm>
        </p:spPr>
        <p:txBody>
          <a:bodyPr vert="horz" wrap="square" lIns="91440" tIns="45720" rIns="91440" bIns="45720" anchor="t" anchorCtr="0"/>
          <a:lstStyle>
            <a:lvl1pPr marL="0" lvl="0" indent="0" algn="ctr">
              <a:buClrTx/>
              <a:buSzTx/>
              <a:buFontTx/>
              <a:defRPr/>
            </a:lvl1pPr>
            <a:lvl2pPr marL="457200" lvl="1" indent="0" algn="ctr">
              <a:buClrTx/>
              <a:buSzTx/>
              <a:buFontTx/>
              <a:defRPr/>
            </a:lvl2pPr>
            <a:lvl3pPr marL="914400" lvl="2" indent="0" algn="ctr">
              <a:buClrTx/>
              <a:buSzTx/>
              <a:buFontTx/>
              <a:defRPr/>
            </a:lvl3pPr>
            <a:lvl4pPr marL="1371600" lvl="3" indent="0" algn="ctr">
              <a:buClrTx/>
              <a:buSzTx/>
              <a:buFontTx/>
              <a:defRPr/>
            </a:lvl4pPr>
            <a:lvl5pPr marL="1828800" lvl="4" indent="0" algn="ctr">
              <a:buClrTx/>
              <a:buSzTx/>
              <a:buFontTx/>
              <a:defRPr/>
            </a:lvl5pPr>
          </a:lstStyle>
          <a:p>
            <a:pPr marL="0" lvl="0" indent="0" algn="ctr">
              <a:lnSpc>
                <a:spcPct val="170000"/>
              </a:lnSpc>
              <a:buNone/>
            </a:pPr>
            <a:r>
              <a:rPr lang="en-US" altLang="en-US" sz="1600" b="1" dirty="0">
                <a:latin typeface="Arial Black" panose="020B0A04020102020204" pitchFamily="34" charset="0"/>
              </a:rPr>
              <a:t>By</a:t>
            </a:r>
            <a:endParaRPr lang="en-US" altLang="en-US" sz="1600" b="1" dirty="0">
              <a:latin typeface="Arial Black" panose="020B0A04020102020204" pitchFamily="34" charset="0"/>
            </a:endParaRPr>
          </a:p>
          <a:p>
            <a:pPr marL="0" lvl="0" indent="0" algn="ctr">
              <a:lnSpc>
                <a:spcPct val="170000"/>
              </a:lnSpc>
              <a:buNone/>
            </a:pPr>
            <a:r>
              <a:rPr lang="en-IN" altLang="en-US" sz="1600" b="1" dirty="0">
                <a:latin typeface="Arial Black" panose="020B0A04020102020204" pitchFamily="34" charset="0"/>
              </a:rPr>
              <a:t>Prof.(</a:t>
            </a:r>
            <a:r>
              <a:rPr lang="en-US" altLang="en-US" sz="1600" b="1" dirty="0">
                <a:latin typeface="Arial Black" panose="020B0A04020102020204" pitchFamily="34" charset="0"/>
              </a:rPr>
              <a:t>DR.</a:t>
            </a:r>
            <a:r>
              <a:rPr lang="en-IN" altLang="en-US" sz="1600" b="1" dirty="0">
                <a:latin typeface="Arial Black" panose="020B0A04020102020204" pitchFamily="34" charset="0"/>
              </a:rPr>
              <a:t>) </a:t>
            </a:r>
            <a:r>
              <a:rPr lang="en-US" altLang="en-US" sz="1600" b="1" dirty="0">
                <a:latin typeface="Arial Black" panose="020B0A04020102020204" pitchFamily="34" charset="0"/>
              </a:rPr>
              <a:t>RUPESH KUMAR</a:t>
            </a:r>
            <a:endParaRPr lang="en-US" altLang="en-US" sz="1600" b="1" dirty="0">
              <a:latin typeface="Arial Black" panose="020B0A04020102020204" pitchFamily="34" charset="0"/>
            </a:endParaRPr>
          </a:p>
          <a:p>
            <a:pPr marL="0" lvl="0" indent="0" algn="ctr">
              <a:lnSpc>
                <a:spcPct val="170000"/>
              </a:lnSpc>
              <a:buNone/>
            </a:pPr>
            <a:r>
              <a:rPr lang="en-IN" altLang="en-US" sz="1600" b="1" dirty="0">
                <a:latin typeface="Arial Black" panose="020B0A04020102020204" pitchFamily="34" charset="0"/>
              </a:rPr>
              <a:t>Department of Chemistry , Kirori Mal College</a:t>
            </a:r>
            <a:endParaRPr lang="en-US" altLang="en-US" sz="1600" b="1" dirty="0">
              <a:latin typeface="Arial Black" panose="020B0A04020102020204" pitchFamily="34" charset="0"/>
            </a:endParaRPr>
          </a:p>
          <a:p>
            <a:pPr marL="0" lvl="0" indent="0" algn="ctr">
              <a:lnSpc>
                <a:spcPct val="170000"/>
              </a:lnSpc>
              <a:buNone/>
            </a:pPr>
            <a:r>
              <a:rPr lang="en-IN" altLang="en-US" sz="1600" b="1" dirty="0">
                <a:latin typeface="Arial Black" panose="020B0A04020102020204" pitchFamily="34" charset="0"/>
              </a:rPr>
              <a:t>University of Delhi, Delhi </a:t>
            </a:r>
            <a:r>
              <a:rPr lang="en-US" altLang="en-US" sz="1600" b="1" dirty="0">
                <a:latin typeface="Arial Black" panose="020B0A04020102020204" pitchFamily="34" charset="0"/>
              </a:rPr>
              <a:t>-110007</a:t>
            </a:r>
            <a:endParaRPr lang="en-US" altLang="en-US" sz="1600" b="1" dirty="0">
              <a:latin typeface="Arial Black" panose="020B0A04020102020204" pitchFamily="34" charset="0"/>
              <a:ea typeface="Times New Roman" panose="02020603050405020304" charset="0"/>
            </a:endParaRPr>
          </a:p>
        </p:txBody>
      </p:sp>
      <p:pic>
        <p:nvPicPr>
          <p:cNvPr id="6150" name="Picture 7" descr="Kirori mal college new logo, png | PNGWing"/>
          <p:cNvPicPr>
            <a:picLocks noChangeAspect="1"/>
          </p:cNvPicPr>
          <p:nvPr/>
        </p:nvPicPr>
        <p:blipFill>
          <a:blip r:embed="rId1"/>
          <a:stretch>
            <a:fillRect/>
          </a:stretch>
        </p:blipFill>
        <p:spPr>
          <a:xfrm>
            <a:off x="3968750" y="1843088"/>
            <a:ext cx="1281113" cy="1281112"/>
          </a:xfrm>
          <a:prstGeom prst="rect">
            <a:avLst/>
          </a:prstGeom>
          <a:noFill/>
          <a:ln w="9525">
            <a:noFill/>
          </a:ln>
        </p:spPr>
      </p:pic>
      <p:sp>
        <p:nvSpPr>
          <p:cNvPr id="2" name="Slide Number Placeholder 1"/>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transition>
    <p:dissolv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194" name="Picture 2" descr="डीयू कुलगीत - Delhi University"/>
          <p:cNvPicPr>
            <a:picLocks noChangeAspect="1"/>
          </p:cNvPicPr>
          <p:nvPr/>
        </p:nvPicPr>
        <p:blipFill>
          <a:blip r:embed="rId1"/>
          <a:stretch>
            <a:fillRect/>
          </a:stretch>
        </p:blipFill>
        <p:spPr>
          <a:xfrm>
            <a:off x="2803525" y="0"/>
            <a:ext cx="3492500" cy="6858000"/>
          </a:xfrm>
          <a:prstGeom prst="rect">
            <a:avLst/>
          </a:prstGeom>
          <a:noFill/>
          <a:ln w="9525">
            <a:noFill/>
          </a:ln>
        </p:spPr>
      </p:pic>
      <p:sp>
        <p:nvSpPr>
          <p:cNvPr id="2" name="Slide Number Placeholder 1"/>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8" name="TextBox 5"/>
          <p:cNvSpPr txBox="1"/>
          <p:nvPr/>
        </p:nvSpPr>
        <p:spPr>
          <a:xfrm>
            <a:off x="2286000" y="612775"/>
            <a:ext cx="4572000" cy="5632450"/>
          </a:xfrm>
          <a:prstGeom prst="rect">
            <a:avLst/>
          </a:prstGeom>
          <a:noFill/>
          <a:ln w="9525">
            <a:noFill/>
          </a:ln>
        </p:spPr>
        <p:txBody>
          <a:bodyPr anchor="t" anchorCtr="0">
            <a:spAutoFit/>
          </a:bodyPr>
          <a:p>
            <a:pPr algn="ctr">
              <a:spcAft>
                <a:spcPts val="1500"/>
              </a:spcAft>
            </a:pPr>
            <a:r>
              <a:rPr lang="hi-IN" altLang="x-none" b="1" dirty="0">
                <a:solidFill>
                  <a:srgbClr val="333333"/>
                </a:solidFill>
                <a:latin typeface="Roboto" pitchFamily="2" charset="0"/>
              </a:rPr>
              <a:t>जननी जन्मभूमि, स्वर्ग से महान है। </a:t>
            </a:r>
            <a:br>
              <a:rPr lang="hi-IN" altLang="x-none" b="1" dirty="0">
                <a:solidFill>
                  <a:srgbClr val="333333"/>
                </a:solidFill>
                <a:latin typeface="Roboto" pitchFamily="2" charset="0"/>
              </a:rPr>
            </a:br>
            <a:r>
              <a:rPr lang="hi-IN" altLang="x-none" b="1" dirty="0">
                <a:solidFill>
                  <a:srgbClr val="333333"/>
                </a:solidFill>
                <a:latin typeface="Roboto" pitchFamily="2" charset="0"/>
              </a:rPr>
              <a:t>इसके वास्ते ये तन है, मन है और प्राण हैं।। </a:t>
            </a:r>
            <a:br>
              <a:rPr lang="hi-IN" altLang="x-none" b="1" dirty="0">
                <a:solidFill>
                  <a:srgbClr val="333333"/>
                </a:solidFill>
                <a:latin typeface="Roboto" pitchFamily="2" charset="0"/>
              </a:rPr>
            </a:br>
            <a:br>
              <a:rPr lang="hi-IN" altLang="x-none" b="1" dirty="0">
                <a:solidFill>
                  <a:srgbClr val="333333"/>
                </a:solidFill>
                <a:latin typeface="Roboto" pitchFamily="2" charset="0"/>
              </a:rPr>
            </a:br>
            <a:r>
              <a:rPr lang="hi-IN" altLang="x-none" b="1" dirty="0">
                <a:solidFill>
                  <a:srgbClr val="333333"/>
                </a:solidFill>
                <a:latin typeface="Roboto" pitchFamily="2" charset="0"/>
              </a:rPr>
              <a:t>इसके कण-कण में लिखा राम-कृष्ण नाम है। </a:t>
            </a:r>
            <a:br>
              <a:rPr lang="hi-IN" altLang="x-none" b="1" dirty="0">
                <a:solidFill>
                  <a:srgbClr val="333333"/>
                </a:solidFill>
                <a:latin typeface="Roboto" pitchFamily="2" charset="0"/>
              </a:rPr>
            </a:br>
            <a:r>
              <a:rPr lang="hi-IN" altLang="x-none" b="1" dirty="0">
                <a:solidFill>
                  <a:srgbClr val="333333"/>
                </a:solidFill>
                <a:latin typeface="Roboto" pitchFamily="2" charset="0"/>
              </a:rPr>
              <a:t>हुतात्माओं के रूधिर से भूमि शस्य-श्याम है। </a:t>
            </a:r>
            <a:br>
              <a:rPr lang="hi-IN" altLang="x-none" b="1" dirty="0">
                <a:solidFill>
                  <a:srgbClr val="333333"/>
                </a:solidFill>
                <a:latin typeface="Roboto" pitchFamily="2" charset="0"/>
              </a:rPr>
            </a:br>
            <a:r>
              <a:rPr lang="hi-IN" altLang="x-none" b="1" dirty="0">
                <a:solidFill>
                  <a:srgbClr val="333333"/>
                </a:solidFill>
                <a:latin typeface="Roboto" pitchFamily="2" charset="0"/>
              </a:rPr>
              <a:t>धर्म का ये धाम है, सदा इसे प्रणाम है। </a:t>
            </a:r>
            <a:br>
              <a:rPr lang="hi-IN" altLang="x-none" b="1" dirty="0">
                <a:solidFill>
                  <a:srgbClr val="333333"/>
                </a:solidFill>
                <a:latin typeface="Roboto" pitchFamily="2" charset="0"/>
              </a:rPr>
            </a:br>
            <a:r>
              <a:rPr lang="hi-IN" altLang="x-none" b="1" dirty="0">
                <a:solidFill>
                  <a:srgbClr val="333333"/>
                </a:solidFill>
                <a:latin typeface="Roboto" pitchFamily="2" charset="0"/>
              </a:rPr>
              <a:t>स्वतंत्र है धरा यहां, स्वतंत्र आसमान है। </a:t>
            </a:r>
            <a:br>
              <a:rPr lang="hi-IN" altLang="x-none" b="1" dirty="0">
                <a:solidFill>
                  <a:srgbClr val="333333"/>
                </a:solidFill>
                <a:latin typeface="Roboto" pitchFamily="2" charset="0"/>
              </a:rPr>
            </a:br>
            <a:r>
              <a:rPr lang="hi-IN" altLang="x-none" b="1" dirty="0">
                <a:solidFill>
                  <a:srgbClr val="333333"/>
                </a:solidFill>
                <a:latin typeface="Roboto" pitchFamily="2" charset="0"/>
              </a:rPr>
              <a:t>जननी जन्मभूमि, स्वर्ग से महान है।।1।। </a:t>
            </a:r>
            <a:br>
              <a:rPr lang="hi-IN" altLang="x-none" b="1" dirty="0">
                <a:solidFill>
                  <a:srgbClr val="333333"/>
                </a:solidFill>
                <a:latin typeface="Roboto" pitchFamily="2" charset="0"/>
              </a:rPr>
            </a:br>
            <a:br>
              <a:rPr lang="hi-IN" altLang="x-none" b="1" dirty="0">
                <a:solidFill>
                  <a:srgbClr val="333333"/>
                </a:solidFill>
                <a:latin typeface="Roboto" pitchFamily="2" charset="0"/>
              </a:rPr>
            </a:br>
            <a:r>
              <a:rPr lang="hi-IN" altLang="x-none" b="1" dirty="0">
                <a:solidFill>
                  <a:srgbClr val="333333"/>
                </a:solidFill>
                <a:latin typeface="Roboto" pitchFamily="2" charset="0"/>
              </a:rPr>
              <a:t>इसकी आन पर कभी जो बात कोई आ पड़े। </a:t>
            </a:r>
            <a:br>
              <a:rPr lang="hi-IN" altLang="x-none" b="1" dirty="0">
                <a:solidFill>
                  <a:srgbClr val="333333"/>
                </a:solidFill>
                <a:latin typeface="Roboto" pitchFamily="2" charset="0"/>
              </a:rPr>
            </a:br>
            <a:r>
              <a:rPr lang="hi-IN" altLang="x-none" b="1" dirty="0">
                <a:solidFill>
                  <a:srgbClr val="333333"/>
                </a:solidFill>
                <a:latin typeface="Roboto" pitchFamily="2" charset="0"/>
              </a:rPr>
              <a:t>इसके सामने जो जुल्म के पहाड़ हों खड़े।। </a:t>
            </a:r>
            <a:br>
              <a:rPr lang="hi-IN" altLang="x-none" b="1" dirty="0">
                <a:solidFill>
                  <a:srgbClr val="333333"/>
                </a:solidFill>
                <a:latin typeface="Roboto" pitchFamily="2" charset="0"/>
              </a:rPr>
            </a:br>
            <a:r>
              <a:rPr lang="hi-IN" altLang="x-none" b="1" dirty="0">
                <a:solidFill>
                  <a:srgbClr val="333333"/>
                </a:solidFill>
                <a:latin typeface="Roboto" pitchFamily="2" charset="0"/>
              </a:rPr>
              <a:t>शत्रु सब जहान हों, विरूद्ध विधि-विधान हो, </a:t>
            </a:r>
            <a:br>
              <a:rPr lang="hi-IN" altLang="x-none" b="1" dirty="0">
                <a:solidFill>
                  <a:srgbClr val="333333"/>
                </a:solidFill>
                <a:latin typeface="Roboto" pitchFamily="2" charset="0"/>
              </a:rPr>
            </a:br>
            <a:r>
              <a:rPr lang="hi-IN" altLang="x-none" b="1" dirty="0">
                <a:solidFill>
                  <a:srgbClr val="333333"/>
                </a:solidFill>
                <a:latin typeface="Roboto" pitchFamily="2" charset="0"/>
              </a:rPr>
              <a:t>मुकाबला करेंगे जब तक जान में ये जान है। </a:t>
            </a:r>
            <a:br>
              <a:rPr lang="hi-IN" altLang="x-none" b="1" dirty="0">
                <a:solidFill>
                  <a:srgbClr val="333333"/>
                </a:solidFill>
                <a:latin typeface="Roboto" pitchFamily="2" charset="0"/>
              </a:rPr>
            </a:br>
            <a:r>
              <a:rPr lang="hi-IN" altLang="x-none" b="1" dirty="0">
                <a:solidFill>
                  <a:srgbClr val="333333"/>
                </a:solidFill>
                <a:latin typeface="Roboto" pitchFamily="2" charset="0"/>
              </a:rPr>
              <a:t>जननी जन्मभूमि, स्वर्ग से महान है।।2।। </a:t>
            </a:r>
            <a:br>
              <a:rPr lang="hi-IN" altLang="x-none" b="1" dirty="0">
                <a:solidFill>
                  <a:srgbClr val="333333"/>
                </a:solidFill>
                <a:latin typeface="Roboto" pitchFamily="2" charset="0"/>
              </a:rPr>
            </a:br>
            <a:br>
              <a:rPr lang="hi-IN" altLang="x-none" b="1" dirty="0">
                <a:solidFill>
                  <a:srgbClr val="333333"/>
                </a:solidFill>
                <a:latin typeface="Roboto" pitchFamily="2" charset="0"/>
              </a:rPr>
            </a:br>
            <a:r>
              <a:rPr lang="hi-IN" altLang="x-none" b="1" dirty="0">
                <a:solidFill>
                  <a:srgbClr val="333333"/>
                </a:solidFill>
                <a:latin typeface="Roboto" pitchFamily="2" charset="0"/>
              </a:rPr>
              <a:t>इसकी गोद में हजारों गंगा-यमुना झूमती। </a:t>
            </a:r>
            <a:br>
              <a:rPr lang="hi-IN" altLang="x-none" b="1" dirty="0">
                <a:solidFill>
                  <a:srgbClr val="333333"/>
                </a:solidFill>
                <a:latin typeface="Roboto" pitchFamily="2" charset="0"/>
              </a:rPr>
            </a:br>
            <a:r>
              <a:rPr lang="hi-IN" altLang="x-none" b="1" dirty="0">
                <a:solidFill>
                  <a:srgbClr val="333333"/>
                </a:solidFill>
                <a:latin typeface="Roboto" pitchFamily="2" charset="0"/>
              </a:rPr>
              <a:t>इसके पर्वतों की चोटियां गगन को चूमती।। </a:t>
            </a:r>
            <a:br>
              <a:rPr lang="hi-IN" altLang="x-none" b="1" dirty="0">
                <a:solidFill>
                  <a:srgbClr val="333333"/>
                </a:solidFill>
                <a:latin typeface="Roboto" pitchFamily="2" charset="0"/>
              </a:rPr>
            </a:br>
            <a:r>
              <a:rPr lang="hi-IN" altLang="x-none" b="1" dirty="0">
                <a:solidFill>
                  <a:srgbClr val="333333"/>
                </a:solidFill>
                <a:latin typeface="Roboto" pitchFamily="2" charset="0"/>
              </a:rPr>
              <a:t>भूमि ये महान है, निराली इसकी शान है। </a:t>
            </a:r>
            <a:br>
              <a:rPr lang="hi-IN" altLang="x-none" b="1" dirty="0">
                <a:solidFill>
                  <a:srgbClr val="333333"/>
                </a:solidFill>
                <a:latin typeface="Roboto" pitchFamily="2" charset="0"/>
              </a:rPr>
            </a:br>
            <a:r>
              <a:rPr lang="hi-IN" altLang="x-none" b="1" dirty="0">
                <a:solidFill>
                  <a:srgbClr val="333333"/>
                </a:solidFill>
                <a:latin typeface="Roboto" pitchFamily="2" charset="0"/>
              </a:rPr>
              <a:t>इसकी जय-पताका ही स्वयं विजय-निशान है। </a:t>
            </a:r>
            <a:br>
              <a:rPr lang="hi-IN" altLang="x-none" b="1" dirty="0">
                <a:solidFill>
                  <a:srgbClr val="333333"/>
                </a:solidFill>
                <a:latin typeface="Roboto" pitchFamily="2" charset="0"/>
              </a:rPr>
            </a:br>
            <a:r>
              <a:rPr lang="hi-IN" altLang="x-none" b="1" dirty="0">
                <a:solidFill>
                  <a:srgbClr val="333333"/>
                </a:solidFill>
                <a:latin typeface="Roboto" pitchFamily="2" charset="0"/>
              </a:rPr>
              <a:t>जननी जन्मभूमि, स्वर्ग से महान है।।3।।</a:t>
            </a:r>
            <a:endParaRPr lang="hi-IN" altLang="x-none" b="1" dirty="0">
              <a:solidFill>
                <a:srgbClr val="333333"/>
              </a:solidFill>
              <a:latin typeface="Roboto" pitchFamily="2" charset="0"/>
              <a:ea typeface="Mangal" panose="02040503050203030202" pitchFamily="18" charset="0"/>
            </a:endParaRPr>
          </a:p>
        </p:txBody>
      </p:sp>
      <p:sp>
        <p:nvSpPr>
          <p:cNvPr id="4" name="Slide Number Placeholder 3"/>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4" name="TextBox 5"/>
          <p:cNvSpPr txBox="1"/>
          <p:nvPr/>
        </p:nvSpPr>
        <p:spPr>
          <a:xfrm>
            <a:off x="990600" y="304800"/>
            <a:ext cx="7467600" cy="5559425"/>
          </a:xfrm>
          <a:prstGeom prst="rect">
            <a:avLst/>
          </a:prstGeom>
          <a:noFill/>
          <a:ln w="9525">
            <a:noFill/>
          </a:ln>
        </p:spPr>
        <p:txBody>
          <a:bodyPr wrap="square" anchor="t" anchorCtr="0">
            <a:spAutoFit/>
          </a:bodyPr>
          <a:p>
            <a:pPr algn="ctr">
              <a:lnSpc>
                <a:spcPct val="150000"/>
              </a:lnSpc>
            </a:pPr>
            <a:r>
              <a:rPr lang="hi-IN" altLang="x-none" sz="1400" b="1" dirty="0">
                <a:solidFill>
                  <a:srgbClr val="212529"/>
                </a:solidFill>
                <a:latin typeface="Segoe UI" panose="020B0502040204020203" pitchFamily="34" charset="0"/>
              </a:rPr>
              <a:t>स्वयं अब जागकर हमको,जगाना देश है अपना</a:t>
            </a:r>
            <a:br>
              <a:rPr lang="hi-IN" altLang="x-none" sz="1400" b="1" dirty="0">
                <a:solidFill>
                  <a:srgbClr val="212529"/>
                </a:solidFill>
                <a:latin typeface="Segoe UI" panose="020B0502040204020203" pitchFamily="34" charset="0"/>
              </a:rPr>
            </a:br>
            <a:r>
              <a:rPr lang="hi-IN" altLang="x-none" sz="1400" b="1" dirty="0">
                <a:solidFill>
                  <a:srgbClr val="212529"/>
                </a:solidFill>
                <a:latin typeface="Segoe UI" panose="020B0502040204020203" pitchFamily="34" charset="0"/>
              </a:rPr>
              <a:t>जगाना देश है अपना, जगाना देश है अपना ॥ध्रु.॥</a:t>
            </a:r>
            <a:br>
              <a:rPr lang="hi-IN" altLang="x-none" sz="1400" b="1" dirty="0">
                <a:solidFill>
                  <a:srgbClr val="212529"/>
                </a:solidFill>
                <a:latin typeface="Segoe UI" panose="020B0502040204020203" pitchFamily="34" charset="0"/>
              </a:rPr>
            </a:br>
            <a:r>
              <a:rPr lang="hi-IN" altLang="x-none" sz="1400" b="1" dirty="0">
                <a:solidFill>
                  <a:srgbClr val="212529"/>
                </a:solidFill>
                <a:latin typeface="Segoe UI" panose="020B0502040204020203" pitchFamily="34" charset="0"/>
              </a:rPr>
              <a:t> </a:t>
            </a:r>
            <a:br>
              <a:rPr lang="hi-IN" altLang="x-none" sz="1400" b="1" dirty="0">
                <a:solidFill>
                  <a:srgbClr val="212529"/>
                </a:solidFill>
                <a:latin typeface="Segoe UI" panose="020B0502040204020203" pitchFamily="34" charset="0"/>
              </a:rPr>
            </a:br>
            <a:r>
              <a:rPr lang="hi-IN" altLang="x-none" sz="1400" b="1" dirty="0">
                <a:solidFill>
                  <a:srgbClr val="212529"/>
                </a:solidFill>
                <a:latin typeface="Segoe UI" panose="020B0502040204020203" pitchFamily="34" charset="0"/>
              </a:rPr>
              <a:t>हमारे देश की मिट्टी हमें प्राणों से प्यारी है</a:t>
            </a:r>
            <a:br>
              <a:rPr lang="hi-IN" altLang="x-none" sz="1400" b="1" dirty="0">
                <a:solidFill>
                  <a:srgbClr val="212529"/>
                </a:solidFill>
                <a:latin typeface="Segoe UI" panose="020B0502040204020203" pitchFamily="34" charset="0"/>
              </a:rPr>
            </a:br>
            <a:r>
              <a:rPr lang="hi-IN" altLang="x-none" sz="1400" b="1" dirty="0">
                <a:solidFill>
                  <a:srgbClr val="212529"/>
                </a:solidFill>
                <a:latin typeface="Segoe UI" panose="020B0502040204020203" pitchFamily="34" charset="0"/>
              </a:rPr>
              <a:t>यहीं के अन्न जल वायु परम श्रद्धा हमारी है</a:t>
            </a:r>
            <a:br>
              <a:rPr lang="hi-IN" altLang="x-none" sz="1400" b="1" dirty="0">
                <a:solidFill>
                  <a:srgbClr val="212529"/>
                </a:solidFill>
                <a:latin typeface="Segoe UI" panose="020B0502040204020203" pitchFamily="34" charset="0"/>
              </a:rPr>
            </a:br>
            <a:r>
              <a:rPr lang="hi-IN" altLang="x-none" sz="1400" b="1" dirty="0">
                <a:solidFill>
                  <a:srgbClr val="212529"/>
                </a:solidFill>
                <a:latin typeface="Segoe UI" panose="020B0502040204020203" pitchFamily="34" charset="0"/>
              </a:rPr>
              <a:t>स्वभाषा है हमें प्यारी ओ प्यारा देश है अपना ॥1॥</a:t>
            </a:r>
            <a:br>
              <a:rPr lang="hi-IN" altLang="x-none" sz="1400" b="1" dirty="0">
                <a:solidFill>
                  <a:srgbClr val="212529"/>
                </a:solidFill>
                <a:latin typeface="Segoe UI" panose="020B0502040204020203" pitchFamily="34" charset="0"/>
              </a:rPr>
            </a:br>
            <a:r>
              <a:rPr lang="hi-IN" altLang="x-none" sz="1400" b="1" dirty="0">
                <a:solidFill>
                  <a:srgbClr val="212529"/>
                </a:solidFill>
                <a:latin typeface="Segoe UI" panose="020B0502040204020203" pitchFamily="34" charset="0"/>
              </a:rPr>
              <a:t>जगाना देश है अपना जगाना देश है अपना</a:t>
            </a:r>
            <a:br>
              <a:rPr lang="hi-IN" altLang="x-none" sz="1400" b="1" dirty="0">
                <a:solidFill>
                  <a:srgbClr val="212529"/>
                </a:solidFill>
                <a:latin typeface="Segoe UI" panose="020B0502040204020203" pitchFamily="34" charset="0"/>
              </a:rPr>
            </a:br>
            <a:r>
              <a:rPr lang="hi-IN" altLang="x-none" sz="1400" b="1" dirty="0">
                <a:solidFill>
                  <a:srgbClr val="212529"/>
                </a:solidFill>
                <a:latin typeface="Segoe UI" panose="020B0502040204020203" pitchFamily="34" charset="0"/>
              </a:rPr>
              <a:t> </a:t>
            </a:r>
            <a:br>
              <a:rPr lang="hi-IN" altLang="x-none" sz="1400" b="1" dirty="0">
                <a:solidFill>
                  <a:srgbClr val="212529"/>
                </a:solidFill>
                <a:latin typeface="Segoe UI" panose="020B0502040204020203" pitchFamily="34" charset="0"/>
              </a:rPr>
            </a:br>
            <a:r>
              <a:rPr lang="hi-IN" altLang="x-none" sz="1400" b="1" dirty="0">
                <a:solidFill>
                  <a:srgbClr val="212529"/>
                </a:solidFill>
                <a:latin typeface="Segoe UI" panose="020B0502040204020203" pitchFamily="34" charset="0"/>
              </a:rPr>
              <a:t>समय है अब नहीं कोई गहन निद्रा में सोने का</a:t>
            </a:r>
            <a:br>
              <a:rPr lang="hi-IN" altLang="x-none" sz="1400" b="1" dirty="0">
                <a:solidFill>
                  <a:srgbClr val="212529"/>
                </a:solidFill>
                <a:latin typeface="Segoe UI" panose="020B0502040204020203" pitchFamily="34" charset="0"/>
              </a:rPr>
            </a:br>
            <a:r>
              <a:rPr lang="hi-IN" altLang="x-none" sz="1400" b="1" dirty="0">
                <a:solidFill>
                  <a:srgbClr val="212529"/>
                </a:solidFill>
                <a:latin typeface="Segoe UI" panose="020B0502040204020203" pitchFamily="34" charset="0"/>
              </a:rPr>
              <a:t>समय है एक होने का न मतभेदों में खोने का</a:t>
            </a:r>
            <a:br>
              <a:rPr lang="hi-IN" altLang="x-none" sz="1400" b="1" dirty="0">
                <a:solidFill>
                  <a:srgbClr val="212529"/>
                </a:solidFill>
                <a:latin typeface="Segoe UI" panose="020B0502040204020203" pitchFamily="34" charset="0"/>
              </a:rPr>
            </a:br>
            <a:r>
              <a:rPr lang="hi-IN" altLang="x-none" sz="1400" b="1" dirty="0">
                <a:solidFill>
                  <a:srgbClr val="212529"/>
                </a:solidFill>
                <a:latin typeface="Segoe UI" panose="020B0502040204020203" pitchFamily="34" charset="0"/>
              </a:rPr>
              <a:t>बढ़े बल राष्ट्र का जिससे वो करना मेल है अपना ॥2॥</a:t>
            </a:r>
            <a:br>
              <a:rPr lang="hi-IN" altLang="x-none" sz="1400" b="1" dirty="0">
                <a:solidFill>
                  <a:srgbClr val="212529"/>
                </a:solidFill>
                <a:latin typeface="Segoe UI" panose="020B0502040204020203" pitchFamily="34" charset="0"/>
              </a:rPr>
            </a:br>
            <a:r>
              <a:rPr lang="hi-IN" altLang="x-none" sz="1400" b="1" dirty="0">
                <a:solidFill>
                  <a:srgbClr val="212529"/>
                </a:solidFill>
                <a:latin typeface="Segoe UI" panose="020B0502040204020203" pitchFamily="34" charset="0"/>
              </a:rPr>
              <a:t>जगाना देश है अपना जगाना देश है अपना</a:t>
            </a:r>
            <a:br>
              <a:rPr lang="hi-IN" altLang="x-none" sz="1400" b="1" dirty="0">
                <a:solidFill>
                  <a:srgbClr val="212529"/>
                </a:solidFill>
                <a:latin typeface="Segoe UI" panose="020B0502040204020203" pitchFamily="34" charset="0"/>
              </a:rPr>
            </a:br>
            <a:r>
              <a:rPr lang="hi-IN" altLang="x-none" sz="1400" b="1" dirty="0">
                <a:solidFill>
                  <a:srgbClr val="212529"/>
                </a:solidFill>
                <a:latin typeface="Segoe UI" panose="020B0502040204020203" pitchFamily="34" charset="0"/>
              </a:rPr>
              <a:t> </a:t>
            </a:r>
            <a:br>
              <a:rPr lang="hi-IN" altLang="x-none" sz="1400" b="1" dirty="0">
                <a:solidFill>
                  <a:srgbClr val="212529"/>
                </a:solidFill>
                <a:latin typeface="Segoe UI" panose="020B0502040204020203" pitchFamily="34" charset="0"/>
              </a:rPr>
            </a:br>
            <a:r>
              <a:rPr lang="hi-IN" altLang="x-none" sz="1400" b="1" dirty="0">
                <a:solidFill>
                  <a:srgbClr val="212529"/>
                </a:solidFill>
                <a:latin typeface="Segoe UI" panose="020B0502040204020203" pitchFamily="34" charset="0"/>
              </a:rPr>
              <a:t>जतन हो संगठित </a:t>
            </a:r>
            <a:r>
              <a:rPr lang="hi-IN" altLang="x-none" sz="1400" b="1" dirty="0">
                <a:solidFill>
                  <a:srgbClr val="212529"/>
                </a:solidFill>
                <a:latin typeface="Mangal" panose="02040503050203030202" pitchFamily="18" charset="0"/>
              </a:rPr>
              <a:t>विद्यार्थी वो</a:t>
            </a:r>
            <a:r>
              <a:rPr lang="hi-IN" altLang="x-none" sz="1400" b="1" dirty="0">
                <a:solidFill>
                  <a:srgbClr val="212529"/>
                </a:solidFill>
                <a:latin typeface="Segoe UI" panose="020B0502040204020203" pitchFamily="34" charset="0"/>
              </a:rPr>
              <a:t> सक्रिय भाव भरने का</a:t>
            </a:r>
            <a:br>
              <a:rPr lang="hi-IN" altLang="x-none" sz="1400" b="1" dirty="0">
                <a:solidFill>
                  <a:srgbClr val="212529"/>
                </a:solidFill>
                <a:latin typeface="Segoe UI" panose="020B0502040204020203" pitchFamily="34" charset="0"/>
              </a:rPr>
            </a:br>
            <a:r>
              <a:rPr lang="hi-IN" altLang="x-none" sz="1400" b="1" dirty="0">
                <a:solidFill>
                  <a:srgbClr val="212529"/>
                </a:solidFill>
                <a:latin typeface="Segoe UI" panose="020B0502040204020203" pitchFamily="34" charset="0"/>
              </a:rPr>
              <a:t>जगाने राष्ट्र की भक्ति उत्तम कार्य करने का</a:t>
            </a:r>
            <a:br>
              <a:rPr lang="hi-IN" altLang="x-none" sz="1400" b="1" dirty="0">
                <a:solidFill>
                  <a:srgbClr val="212529"/>
                </a:solidFill>
                <a:latin typeface="Segoe UI" panose="020B0502040204020203" pitchFamily="34" charset="0"/>
              </a:rPr>
            </a:br>
            <a:r>
              <a:rPr lang="hi-IN" altLang="x-none" sz="1400" b="1" dirty="0">
                <a:solidFill>
                  <a:srgbClr val="212529"/>
                </a:solidFill>
                <a:latin typeface="Segoe UI" panose="020B0502040204020203" pitchFamily="34" charset="0"/>
              </a:rPr>
              <a:t>समुन्नत राष्ट्र हो भारत यही उद्देश्य है अपना ॥3॥</a:t>
            </a:r>
            <a:br>
              <a:rPr lang="hi-IN" altLang="x-none" sz="1400" b="1" dirty="0">
                <a:solidFill>
                  <a:srgbClr val="212529"/>
                </a:solidFill>
                <a:latin typeface="Segoe UI" panose="020B0502040204020203" pitchFamily="34" charset="0"/>
              </a:rPr>
            </a:br>
            <a:r>
              <a:rPr lang="hi-IN" altLang="x-none" sz="1400" b="1" dirty="0">
                <a:solidFill>
                  <a:srgbClr val="212529"/>
                </a:solidFill>
                <a:latin typeface="Segoe UI" panose="020B0502040204020203" pitchFamily="34" charset="0"/>
              </a:rPr>
              <a:t>जगाना देश है अपना जगाना देश है अपना</a:t>
            </a:r>
            <a:endParaRPr lang="hi-IN" altLang="x-none" sz="1000" dirty="0">
              <a:latin typeface="Times New Roman" panose="02020603050405020304" charset="0"/>
              <a:ea typeface="Mangal" panose="02040503050203030202" pitchFamily="18" charset="0"/>
            </a:endParaRPr>
          </a:p>
        </p:txBody>
      </p:sp>
      <p:sp>
        <p:nvSpPr>
          <p:cNvPr id="4" name="Slide Number Placeholder 3"/>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
        <p:nvSpPr>
          <p:cNvPr id="3" name="Text Box 2"/>
          <p:cNvSpPr txBox="1"/>
          <p:nvPr/>
        </p:nvSpPr>
        <p:spPr>
          <a:xfrm>
            <a:off x="0" y="0"/>
            <a:ext cx="9200515" cy="6105525"/>
          </a:xfrm>
          <a:prstGeom prst="rect">
            <a:avLst/>
          </a:prstGeom>
          <a:noFill/>
        </p:spPr>
        <p:txBody>
          <a:bodyPr wrap="square" rtlCol="0" anchor="t">
            <a:noAutofit/>
          </a:bodyPr>
          <a:p>
            <a:pPr algn="just"/>
            <a:r>
              <a:rPr lang="en-US" altLang="en-US" sz="2400">
                <a:latin typeface="Arial Black" panose="020B0A04020102020204" pitchFamily="34" charset="0"/>
                <a:cs typeface="Arial Black" panose="020B0A04020102020204" pitchFamily="34" charset="0"/>
              </a:rPr>
              <a:t>Unit - IV: Alcohols, Phenols, Ethers &amp; Epoxides (10 Hours)</a:t>
            </a:r>
            <a:endParaRPr lang="en-US" altLang="en-US" sz="2400">
              <a:latin typeface="Arial Black" panose="020B0A04020102020204" pitchFamily="34" charset="0"/>
              <a:cs typeface="Arial Black" panose="020B0A04020102020204" pitchFamily="34" charset="0"/>
            </a:endParaRPr>
          </a:p>
          <a:p>
            <a:pPr algn="just"/>
            <a:r>
              <a:rPr lang="en-US" altLang="en-US" sz="2400">
                <a:latin typeface="Arial Black" panose="020B0A04020102020204" pitchFamily="34" charset="0"/>
                <a:cs typeface="Arial Black" panose="020B0A04020102020204" pitchFamily="34" charset="0"/>
              </a:rPr>
              <a:t>Alcohols: Relative reactivity of 1</a:t>
            </a:r>
            <a:r>
              <a:rPr lang="en-US" altLang="en-US" sz="2400">
                <a:latin typeface="Arial Black" panose="020B0A04020102020204" pitchFamily="34" charset="0"/>
                <a:cs typeface="Arial Black" panose="020B0A04020102020204" pitchFamily="34" charset="0"/>
              </a:rPr>
              <a:t>°</a:t>
            </a:r>
            <a:r>
              <a:rPr lang="en-US" altLang="en-US" sz="2400">
                <a:latin typeface="Arial Black" panose="020B0A04020102020204" pitchFamily="34" charset="0"/>
                <a:cs typeface="Arial Black" panose="020B0A04020102020204" pitchFamily="34" charset="0"/>
              </a:rPr>
              <a:t>, 2</a:t>
            </a:r>
            <a:r>
              <a:rPr lang="en-US" altLang="en-US" sz="2400">
                <a:latin typeface="Arial Black" panose="020B0A04020102020204" pitchFamily="34" charset="0"/>
                <a:cs typeface="Arial Black" panose="020B0A04020102020204" pitchFamily="34" charset="0"/>
              </a:rPr>
              <a:t>°</a:t>
            </a:r>
            <a:r>
              <a:rPr lang="en-US" altLang="en-US" sz="2400">
                <a:latin typeface="Arial Black" panose="020B0A04020102020204" pitchFamily="34" charset="0"/>
                <a:cs typeface="Arial Black" panose="020B0A04020102020204" pitchFamily="34" charset="0"/>
              </a:rPr>
              <a:t>, 3</a:t>
            </a:r>
            <a:r>
              <a:rPr lang="en-US" altLang="en-US" sz="2400">
                <a:latin typeface="Arial Black" panose="020B0A04020102020204" pitchFamily="34" charset="0"/>
                <a:cs typeface="Arial Black" panose="020B0A04020102020204" pitchFamily="34" charset="0"/>
              </a:rPr>
              <a:t>°</a:t>
            </a:r>
            <a:r>
              <a:rPr lang="en-US" altLang="en-US" sz="2400">
                <a:latin typeface="Arial Black" panose="020B0A04020102020204" pitchFamily="34" charset="0"/>
                <a:cs typeface="Arial Black" panose="020B0A04020102020204" pitchFamily="34" charset="0"/>
              </a:rPr>
              <a:t> alcohols, reactions of alcohols with sodium,HX (Lucas test), esterification, oxidation (with PCC, alkaline KMnO4, acidic dichromate,conc. HNO3). Oppenauer oxidation; Diols: oxidation of diols by periodic acid and lead</a:t>
            </a:r>
            <a:endParaRPr lang="en-US" altLang="en-US" sz="2400">
              <a:latin typeface="Arial Black" panose="020B0A04020102020204" pitchFamily="34" charset="0"/>
              <a:cs typeface="Arial Black" panose="020B0A04020102020204" pitchFamily="34" charset="0"/>
            </a:endParaRPr>
          </a:p>
          <a:p>
            <a:pPr algn="just"/>
            <a:r>
              <a:rPr lang="en-US" altLang="en-US" sz="2400">
                <a:latin typeface="Arial Black" panose="020B0A04020102020204" pitchFamily="34" charset="0"/>
                <a:cs typeface="Arial Black" panose="020B0A04020102020204" pitchFamily="34" charset="0"/>
              </a:rPr>
              <a:t>tetraacetate, Pinacol-Pinacolone rearrangement.</a:t>
            </a:r>
            <a:endParaRPr lang="en-US" altLang="en-US" sz="2400">
              <a:latin typeface="Arial Black" panose="020B0A04020102020204" pitchFamily="34" charset="0"/>
              <a:cs typeface="Arial Black" panose="020B0A04020102020204" pitchFamily="34" charset="0"/>
            </a:endParaRPr>
          </a:p>
          <a:p>
            <a:pPr algn="just"/>
            <a:endParaRPr lang="en-US" altLang="en-US" sz="2400">
              <a:latin typeface="Arial Black" panose="020B0A04020102020204" pitchFamily="34" charset="0"/>
              <a:cs typeface="Arial Black" panose="020B0A04020102020204" pitchFamily="34" charset="0"/>
            </a:endParaRPr>
          </a:p>
          <a:p>
            <a:pPr algn="just"/>
            <a:r>
              <a:rPr lang="en-US" altLang="en-US" sz="2400">
                <a:latin typeface="Arial Black" panose="020B0A04020102020204" pitchFamily="34" charset="0"/>
                <a:cs typeface="Arial Black" panose="020B0A04020102020204" pitchFamily="34" charset="0"/>
              </a:rPr>
              <a:t>Phenols: Preparation using Cumene hydroperoxide, Acidity and factors affecting it,</a:t>
            </a:r>
            <a:endParaRPr lang="en-US" altLang="en-US" sz="2400">
              <a:latin typeface="Arial Black" panose="020B0A04020102020204" pitchFamily="34" charset="0"/>
              <a:cs typeface="Arial Black" panose="020B0A04020102020204" pitchFamily="34" charset="0"/>
            </a:endParaRPr>
          </a:p>
          <a:p>
            <a:pPr algn="just"/>
            <a:r>
              <a:rPr lang="en-US" altLang="en-US" sz="2400">
                <a:latin typeface="Arial Black" panose="020B0A04020102020204" pitchFamily="34" charset="0"/>
                <a:cs typeface="Arial Black" panose="020B0A04020102020204" pitchFamily="34" charset="0"/>
              </a:rPr>
              <a:t>Kolbe’s–Schmidt reactions, Riemer-Tiemann reaction, Houben–Hoesch condensation,</a:t>
            </a:r>
            <a:endParaRPr lang="en-US" altLang="en-US" sz="2400">
              <a:latin typeface="Arial Black" panose="020B0A04020102020204" pitchFamily="34" charset="0"/>
              <a:cs typeface="Arial Black" panose="020B0A04020102020204" pitchFamily="34" charset="0"/>
            </a:endParaRPr>
          </a:p>
          <a:p>
            <a:pPr algn="just"/>
            <a:r>
              <a:rPr lang="en-US" altLang="en-US" sz="2400">
                <a:latin typeface="Arial Black" panose="020B0A04020102020204" pitchFamily="34" charset="0"/>
                <a:cs typeface="Arial Black" panose="020B0A04020102020204" pitchFamily="34" charset="0"/>
              </a:rPr>
              <a:t>Schotten–Baumann reaction, Fries and Claisen rearrangements and their mechanism.</a:t>
            </a:r>
            <a:endParaRPr lang="en-US" altLang="en-US" sz="2400">
              <a:latin typeface="Arial Black" panose="020B0A04020102020204" pitchFamily="34" charset="0"/>
              <a:cs typeface="Arial Black" panose="020B0A04020102020204" pitchFamily="34" charset="0"/>
            </a:endParaRPr>
          </a:p>
          <a:p>
            <a:pPr algn="just"/>
            <a:endParaRPr lang="en-US" altLang="en-US" sz="2400">
              <a:latin typeface="Arial Black" panose="020B0A04020102020204" pitchFamily="34" charset="0"/>
              <a:cs typeface="Arial Black" panose="020B0A04020102020204" pitchFamily="34" charset="0"/>
            </a:endParaRPr>
          </a:p>
          <a:p>
            <a:pPr algn="just"/>
            <a:r>
              <a:rPr lang="en-US" altLang="en-US" sz="2400">
                <a:latin typeface="Arial Black" panose="020B0A04020102020204" pitchFamily="34" charset="0"/>
                <a:cs typeface="Arial Black" panose="020B0A04020102020204" pitchFamily="34" charset="0"/>
              </a:rPr>
              <a:t>Ethers and Epoxides: Acid and Base catalyzed cleavage reactions.</a:t>
            </a:r>
            <a:endParaRPr lang="en-US" sz="2400">
              <a:latin typeface="Arial Black" panose="020B0A04020102020204" pitchFamily="34" charset="0"/>
              <a:cs typeface="Arial Black" panose="020B0A04020102020204" pitchFamily="34"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
        <p:nvSpPr>
          <p:cNvPr id="3" name="Text Box 2"/>
          <p:cNvSpPr txBox="1"/>
          <p:nvPr/>
        </p:nvSpPr>
        <p:spPr>
          <a:xfrm>
            <a:off x="0" y="1989455"/>
            <a:ext cx="9170670" cy="2774315"/>
          </a:xfrm>
          <a:prstGeom prst="rect">
            <a:avLst/>
          </a:prstGeom>
          <a:noFill/>
        </p:spPr>
        <p:txBody>
          <a:bodyPr wrap="square" rtlCol="0" anchor="t">
            <a:noAutofit/>
          </a:bodyPr>
          <a:p>
            <a:pPr algn="just"/>
            <a:r>
              <a:rPr lang="en-US" altLang="en-US" sz="3200">
                <a:latin typeface="Arial Black" panose="020B0A04020102020204" pitchFamily="34" charset="0"/>
                <a:cs typeface="Arial Black" panose="020B0A04020102020204" pitchFamily="34" charset="0"/>
                <a:sym typeface="+mn-ea"/>
              </a:rPr>
              <a:t>Ethers and Epoxides: Acid and Base catalyzed cleavage reactions.</a:t>
            </a:r>
            <a:endParaRPr lang="en-US" altLang="en-US" sz="3200">
              <a:latin typeface="Arial Black" panose="020B0A04020102020204" pitchFamily="34" charset="0"/>
              <a:cs typeface="Arial Black" panose="020B0A04020102020204" pitchFamily="34" charset="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pic>
        <p:nvPicPr>
          <p:cNvPr id="3" name="Picture 2"/>
          <p:cNvPicPr>
            <a:picLocks noChangeAspect="1"/>
          </p:cNvPicPr>
          <p:nvPr/>
        </p:nvPicPr>
        <p:blipFill>
          <a:blip r:embed="rId1"/>
          <a:stretch>
            <a:fillRect/>
          </a:stretch>
        </p:blipFill>
        <p:spPr>
          <a:xfrm>
            <a:off x="467360" y="1989455"/>
            <a:ext cx="8173720" cy="23317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
        <p:nvSpPr>
          <p:cNvPr id="5" name="Text Box 4"/>
          <p:cNvSpPr txBox="1"/>
          <p:nvPr/>
        </p:nvSpPr>
        <p:spPr>
          <a:xfrm>
            <a:off x="-36830" y="0"/>
            <a:ext cx="9180830" cy="2861310"/>
          </a:xfrm>
          <a:prstGeom prst="rect">
            <a:avLst/>
          </a:prstGeom>
          <a:noFill/>
        </p:spPr>
        <p:txBody>
          <a:bodyPr wrap="square" rtlCol="0" anchor="t">
            <a:spAutoFit/>
          </a:bodyPr>
          <a:p>
            <a:pPr marL="342900" indent="-342900" algn="just">
              <a:buFont typeface="Wingdings" panose="05000000000000000000" charset="0"/>
              <a:buChar char="v"/>
            </a:pPr>
            <a:r>
              <a:rPr lang="en-US" altLang="en-US" sz="2000">
                <a:latin typeface="Arial Black" panose="020B0A04020102020204" pitchFamily="34" charset="0"/>
                <a:cs typeface="Arial Black" panose="020B0A04020102020204" pitchFamily="34" charset="0"/>
              </a:rPr>
              <a:t>Ethers are generally fairly unreactive (except for strained cyclic derivatives) and are therefore frequently used as solvents in organic reactions. </a:t>
            </a:r>
            <a:endParaRPr lang="en-US" altLang="en-US" sz="2000">
              <a:latin typeface="Arial Black" panose="020B0A04020102020204" pitchFamily="34" charset="0"/>
              <a:cs typeface="Arial Black" panose="020B0A04020102020204" pitchFamily="34" charset="0"/>
            </a:endParaRPr>
          </a:p>
          <a:p>
            <a:pPr marL="342900" indent="-342900" algn="just">
              <a:buFont typeface="Wingdings" panose="05000000000000000000" charset="0"/>
              <a:buChar char="v"/>
            </a:pPr>
            <a:r>
              <a:rPr lang="en-US" altLang="en-US" sz="2000">
                <a:latin typeface="Arial Black" panose="020B0A04020102020204" pitchFamily="34" charset="0"/>
                <a:cs typeface="Arial Black" panose="020B0A04020102020204" pitchFamily="34" charset="0"/>
              </a:rPr>
              <a:t>Some of these ether solvents are cyclic; they may even contain several ether functions. </a:t>
            </a:r>
            <a:endParaRPr lang="en-US" altLang="en-US" sz="2000">
              <a:latin typeface="Arial Black" panose="020B0A04020102020204" pitchFamily="34" charset="0"/>
              <a:cs typeface="Arial Black" panose="020B0A04020102020204" pitchFamily="34" charset="0"/>
            </a:endParaRPr>
          </a:p>
          <a:p>
            <a:pPr marL="342900" indent="-342900" algn="just">
              <a:buFont typeface="Wingdings" panose="05000000000000000000" charset="0"/>
              <a:buChar char="v"/>
            </a:pPr>
            <a:r>
              <a:rPr lang="en-US" altLang="en-US" sz="2000">
                <a:latin typeface="Arial Black" panose="020B0A04020102020204" pitchFamily="34" charset="0"/>
                <a:cs typeface="Arial Black" panose="020B0A04020102020204" pitchFamily="34" charset="0"/>
              </a:rPr>
              <a:t>All have common names.</a:t>
            </a:r>
            <a:endParaRPr lang="en-US" altLang="en-US" sz="2000">
              <a:latin typeface="Arial Black" panose="020B0A04020102020204" pitchFamily="34" charset="0"/>
              <a:cs typeface="Arial Black" panose="020B0A04020102020204" pitchFamily="34" charset="0"/>
            </a:endParaRPr>
          </a:p>
          <a:p>
            <a:pPr marL="342900" indent="-342900" algn="just">
              <a:buFont typeface="Wingdings" panose="05000000000000000000" charset="0"/>
              <a:buChar char="v"/>
            </a:pPr>
            <a:r>
              <a:rPr lang="en-US" altLang="en-US" sz="2000">
                <a:latin typeface="Arial Black" panose="020B0A04020102020204" pitchFamily="34" charset="0"/>
                <a:cs typeface="Arial Black" panose="020B0A04020102020204" pitchFamily="34" charset="0"/>
              </a:rPr>
              <a:t>Cyclic ethers are members of a class of cycloalkanes in which one or more carbons have been replaced by a heteroatom — in this case, oxygen.</a:t>
            </a:r>
            <a:endParaRPr lang="en-US" altLang="en-US" sz="2000">
              <a:latin typeface="Arial Black" panose="020B0A04020102020204" pitchFamily="34" charset="0"/>
              <a:cs typeface="Arial Black" panose="020B0A040201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pic>
        <p:nvPicPr>
          <p:cNvPr id="3" name="Picture 2"/>
          <p:cNvPicPr>
            <a:picLocks noChangeAspect="1"/>
          </p:cNvPicPr>
          <p:nvPr/>
        </p:nvPicPr>
        <p:blipFill>
          <a:blip r:embed="rId1"/>
          <a:stretch>
            <a:fillRect/>
          </a:stretch>
        </p:blipFill>
        <p:spPr>
          <a:xfrm>
            <a:off x="986790" y="1985010"/>
            <a:ext cx="7170420" cy="28879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
        <p:nvSpPr>
          <p:cNvPr id="4" name="Text Box 3"/>
          <p:cNvSpPr txBox="1"/>
          <p:nvPr/>
        </p:nvSpPr>
        <p:spPr>
          <a:xfrm>
            <a:off x="0" y="0"/>
            <a:ext cx="9042400" cy="2861310"/>
          </a:xfrm>
          <a:prstGeom prst="rect">
            <a:avLst/>
          </a:prstGeom>
          <a:noFill/>
        </p:spPr>
        <p:txBody>
          <a:bodyPr wrap="square" rtlCol="0" anchor="t">
            <a:spAutoFit/>
          </a:bodyPr>
          <a:p>
            <a:pPr marL="285750" indent="-285750" algn="just">
              <a:buFont typeface="Wingdings" panose="05000000000000000000" charset="0"/>
              <a:buChar char="q"/>
            </a:pPr>
            <a:r>
              <a:rPr lang="en-US" altLang="en-US">
                <a:latin typeface="Arial Black" panose="020B0A04020102020204" pitchFamily="34" charset="0"/>
                <a:cs typeface="Arial Black" panose="020B0A04020102020204" pitchFamily="34" charset="0"/>
              </a:rPr>
              <a:t>A more useful reaction is cleavage by strong acid. </a:t>
            </a:r>
            <a:endParaRPr lang="en-US" altLang="en-US">
              <a:latin typeface="Arial Black" panose="020B0A04020102020204" pitchFamily="34" charset="0"/>
              <a:cs typeface="Arial Black" panose="020B0A04020102020204" pitchFamily="34" charset="0"/>
            </a:endParaRPr>
          </a:p>
          <a:p>
            <a:pPr marL="285750" indent="-285750" algn="just">
              <a:buFont typeface="Wingdings" panose="05000000000000000000" charset="0"/>
              <a:buChar char="q"/>
            </a:pPr>
            <a:r>
              <a:rPr lang="en-US" altLang="en-US">
                <a:latin typeface="Arial Black" panose="020B0A04020102020204" pitchFamily="34" charset="0"/>
                <a:cs typeface="Arial Black" panose="020B0A04020102020204" pitchFamily="34" charset="0"/>
              </a:rPr>
              <a:t>The oxygen in ethers, like that in alcohols, may be protonated to generate alkyloxonium ions. </a:t>
            </a:r>
            <a:endParaRPr lang="en-US" altLang="en-US">
              <a:latin typeface="Arial Black" panose="020B0A04020102020204" pitchFamily="34" charset="0"/>
              <a:cs typeface="Arial Black" panose="020B0A04020102020204" pitchFamily="34" charset="0"/>
            </a:endParaRPr>
          </a:p>
          <a:p>
            <a:pPr marL="285750" indent="-285750" algn="just">
              <a:buFont typeface="Wingdings" panose="05000000000000000000" charset="0"/>
              <a:buChar char="q"/>
            </a:pPr>
            <a:r>
              <a:rPr lang="en-US" altLang="en-US">
                <a:latin typeface="Arial Black" panose="020B0A04020102020204" pitchFamily="34" charset="0"/>
                <a:cs typeface="Arial Black" panose="020B0A04020102020204" pitchFamily="34" charset="0"/>
              </a:rPr>
              <a:t>The subsequent reactivity of these ions depends on the alkyl substituents. </a:t>
            </a:r>
            <a:endParaRPr lang="en-US" altLang="en-US">
              <a:latin typeface="Arial Black" panose="020B0A04020102020204" pitchFamily="34" charset="0"/>
              <a:cs typeface="Arial Black" panose="020B0A04020102020204" pitchFamily="34" charset="0"/>
            </a:endParaRPr>
          </a:p>
          <a:p>
            <a:pPr marL="285750" indent="-285750" algn="just">
              <a:buFont typeface="Wingdings" panose="05000000000000000000" charset="0"/>
              <a:buChar char="q"/>
            </a:pPr>
            <a:r>
              <a:rPr lang="en-US" altLang="en-US">
                <a:latin typeface="Arial Black" panose="020B0A04020102020204" pitchFamily="34" charset="0"/>
                <a:cs typeface="Arial Black" panose="020B0A04020102020204" pitchFamily="34" charset="0"/>
              </a:rPr>
              <a:t>With primary groups and strong nucleophilic acids such as HBr, SN</a:t>
            </a:r>
            <a:r>
              <a:rPr lang="en-US" altLang="en-US" baseline="-25000">
                <a:latin typeface="Arial Black" panose="020B0A04020102020204" pitchFamily="34" charset="0"/>
                <a:cs typeface="Arial Black" panose="020B0A04020102020204" pitchFamily="34" charset="0"/>
              </a:rPr>
              <a:t>2</a:t>
            </a:r>
            <a:r>
              <a:rPr lang="en-US" altLang="en-US">
                <a:latin typeface="Arial Black" panose="020B0A04020102020204" pitchFamily="34" charset="0"/>
                <a:cs typeface="Arial Black" panose="020B0A04020102020204" pitchFamily="34" charset="0"/>
              </a:rPr>
              <a:t> displacement takes place.</a:t>
            </a:r>
            <a:endParaRPr lang="en-US" altLang="en-US">
              <a:latin typeface="Arial Black" panose="020B0A04020102020204" pitchFamily="34" charset="0"/>
              <a:cs typeface="Arial Black" panose="020B0A04020102020204" pitchFamily="34" charset="0"/>
            </a:endParaRPr>
          </a:p>
          <a:p>
            <a:pPr marL="285750" indent="-285750" algn="just">
              <a:buFont typeface="Wingdings" panose="05000000000000000000" charset="0"/>
              <a:buChar char="q"/>
            </a:pPr>
            <a:r>
              <a:rPr lang="en-US" altLang="en-US">
                <a:latin typeface="Arial Black" panose="020B0A04020102020204" pitchFamily="34" charset="0"/>
                <a:cs typeface="Arial Black" panose="020B0A04020102020204" pitchFamily="34" charset="0"/>
              </a:rPr>
              <a:t>The alcohol formed as the second product may in turn be attacked by additional HBr</a:t>
            </a:r>
            <a:endParaRPr lang="en-US" altLang="en-US">
              <a:latin typeface="Arial Black" panose="020B0A04020102020204" pitchFamily="34" charset="0"/>
              <a:cs typeface="Arial Black" panose="020B0A04020102020204" pitchFamily="34" charset="0"/>
            </a:endParaRPr>
          </a:p>
          <a:p>
            <a:pPr marL="285750" indent="-285750" algn="just">
              <a:buFont typeface="Wingdings" panose="05000000000000000000" charset="0"/>
              <a:buChar char="q"/>
            </a:pPr>
            <a:r>
              <a:rPr lang="en-US" altLang="en-US">
                <a:latin typeface="Arial Black" panose="020B0A04020102020204" pitchFamily="34" charset="0"/>
                <a:cs typeface="Arial Black" panose="020B0A04020102020204" pitchFamily="34" charset="0"/>
              </a:rPr>
              <a:t>to give more of the bromoalkane.</a:t>
            </a:r>
            <a:endParaRPr lang="en-US" altLang="en-US">
              <a:latin typeface="Arial Black" panose="020B0A04020102020204" pitchFamily="34" charset="0"/>
              <a:cs typeface="Arial Black" panose="020B0A04020102020204" pitchFamily="34" charset="0"/>
            </a:endParaRPr>
          </a:p>
        </p:txBody>
      </p:sp>
      <p:pic>
        <p:nvPicPr>
          <p:cNvPr id="5" name="Picture 4"/>
          <p:cNvPicPr>
            <a:picLocks noChangeAspect="1"/>
          </p:cNvPicPr>
          <p:nvPr/>
        </p:nvPicPr>
        <p:blipFill>
          <a:blip r:embed="rId1"/>
          <a:stretch>
            <a:fillRect/>
          </a:stretch>
        </p:blipFill>
        <p:spPr>
          <a:xfrm>
            <a:off x="179070" y="3023870"/>
            <a:ext cx="9013190" cy="1755775"/>
          </a:xfrm>
          <a:prstGeom prst="rect">
            <a:avLst/>
          </a:prstGeom>
        </p:spPr>
      </p:pic>
      <p:pic>
        <p:nvPicPr>
          <p:cNvPr id="6" name="Picture 5"/>
          <p:cNvPicPr>
            <a:picLocks noChangeAspect="1"/>
          </p:cNvPicPr>
          <p:nvPr/>
        </p:nvPicPr>
        <p:blipFill>
          <a:blip r:embed="rId2"/>
          <a:stretch>
            <a:fillRect/>
          </a:stretch>
        </p:blipFill>
        <p:spPr>
          <a:xfrm>
            <a:off x="539750" y="4941570"/>
            <a:ext cx="7858125" cy="15665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pic>
        <p:nvPicPr>
          <p:cNvPr id="4" name="Picture 3"/>
          <p:cNvPicPr>
            <a:picLocks noChangeAspect="1"/>
          </p:cNvPicPr>
          <p:nvPr/>
        </p:nvPicPr>
        <p:blipFill>
          <a:blip r:embed="rId1"/>
          <a:stretch>
            <a:fillRect/>
          </a:stretch>
        </p:blipFill>
        <p:spPr>
          <a:xfrm>
            <a:off x="0" y="3141345"/>
            <a:ext cx="9151620" cy="2167255"/>
          </a:xfrm>
          <a:prstGeom prst="rect">
            <a:avLst/>
          </a:prstGeom>
        </p:spPr>
      </p:pic>
      <p:pic>
        <p:nvPicPr>
          <p:cNvPr id="5" name="Picture 4"/>
          <p:cNvPicPr>
            <a:picLocks noChangeAspect="1"/>
          </p:cNvPicPr>
          <p:nvPr/>
        </p:nvPicPr>
        <p:blipFill>
          <a:blip r:embed="rId2"/>
          <a:stretch>
            <a:fillRect/>
          </a:stretch>
        </p:blipFill>
        <p:spPr>
          <a:xfrm>
            <a:off x="0" y="45085"/>
            <a:ext cx="8985885" cy="779145"/>
          </a:xfrm>
          <a:prstGeom prst="rect">
            <a:avLst/>
          </a:prstGeom>
        </p:spPr>
      </p:pic>
      <p:sp>
        <p:nvSpPr>
          <p:cNvPr id="6" name="Text Box 5"/>
          <p:cNvSpPr txBox="1"/>
          <p:nvPr/>
        </p:nvSpPr>
        <p:spPr>
          <a:xfrm>
            <a:off x="-36830" y="824230"/>
            <a:ext cx="9224010" cy="1938020"/>
          </a:xfrm>
          <a:prstGeom prst="rect">
            <a:avLst/>
          </a:prstGeom>
          <a:noFill/>
        </p:spPr>
        <p:txBody>
          <a:bodyPr wrap="square" rtlCol="0" anchor="t">
            <a:spAutoFit/>
          </a:bodyPr>
          <a:p>
            <a:pPr marL="342900" indent="-342900" algn="just">
              <a:buFont typeface="Wingdings" panose="05000000000000000000" charset="0"/>
              <a:buChar char="q"/>
            </a:pPr>
            <a:r>
              <a:rPr lang="en-US" altLang="en-US" sz="2000">
                <a:latin typeface="Arial Black" panose="020B0A04020102020204" pitchFamily="34" charset="0"/>
                <a:cs typeface="Arial Black" panose="020B0A04020102020204" pitchFamily="34" charset="0"/>
              </a:rPr>
              <a:t>Oxonium ions derived from secondary ethers can transform by either SN2 or SN1 (E1) reactions, depending on the system and conditions . </a:t>
            </a:r>
            <a:endParaRPr lang="en-US" altLang="en-US" sz="2000">
              <a:latin typeface="Arial Black" panose="020B0A04020102020204" pitchFamily="34" charset="0"/>
              <a:cs typeface="Arial Black" panose="020B0A04020102020204" pitchFamily="34" charset="0"/>
            </a:endParaRPr>
          </a:p>
          <a:p>
            <a:pPr marL="342900" indent="-342900" algn="just">
              <a:buFont typeface="Wingdings" panose="05000000000000000000" charset="0"/>
              <a:buChar char="q"/>
            </a:pPr>
            <a:r>
              <a:rPr lang="en-US" altLang="en-US" sz="2000">
                <a:latin typeface="Arial Black" panose="020B0A04020102020204" pitchFamily="34" charset="0"/>
                <a:cs typeface="Arial Black" panose="020B0A04020102020204" pitchFamily="34" charset="0"/>
              </a:rPr>
              <a:t> For example, 2-ethoxypropane is protonated by aqueous HI and then converted into 2-propanol and iodoethane by selective attack by iodide at the less hindered primary center.</a:t>
            </a:r>
            <a:endParaRPr lang="en-US" sz="2000">
              <a:latin typeface="Arial Black" panose="020B0A04020102020204" pitchFamily="34" charset="0"/>
              <a:cs typeface="Arial Black" panose="020B0A040201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
        <p:nvSpPr>
          <p:cNvPr id="3" name="Text Box 2"/>
          <p:cNvSpPr txBox="1"/>
          <p:nvPr/>
        </p:nvSpPr>
        <p:spPr>
          <a:xfrm>
            <a:off x="0" y="45085"/>
            <a:ext cx="9144000" cy="1784350"/>
          </a:xfrm>
          <a:prstGeom prst="rect">
            <a:avLst/>
          </a:prstGeom>
          <a:noFill/>
        </p:spPr>
        <p:txBody>
          <a:bodyPr wrap="square" rtlCol="0" anchor="t">
            <a:noAutofit/>
          </a:bodyPr>
          <a:p>
            <a:pPr algn="just"/>
            <a:r>
              <a:rPr lang="en-US" altLang="en-US" sz="2400" u="sng">
                <a:latin typeface="Arial Black" panose="020B0A04020102020204" pitchFamily="34" charset="0"/>
                <a:cs typeface="Arial Black" panose="020B0A04020102020204" pitchFamily="34" charset="0"/>
              </a:rPr>
              <a:t>Tertiary butyl ethers function to protect alcohols</a:t>
            </a:r>
            <a:endParaRPr lang="en-US" altLang="en-US" sz="2400" u="sng">
              <a:latin typeface="Arial Black" panose="020B0A04020102020204" pitchFamily="34" charset="0"/>
              <a:cs typeface="Arial Black" panose="020B0A04020102020204" pitchFamily="34" charset="0"/>
            </a:endParaRPr>
          </a:p>
          <a:p>
            <a:pPr marL="342900" indent="-342900" algn="just">
              <a:buFont typeface="Wingdings" panose="05000000000000000000" charset="0"/>
              <a:buChar char="q"/>
            </a:pPr>
            <a:r>
              <a:rPr lang="en-US" altLang="en-US" sz="2000">
                <a:latin typeface="Arial Black" panose="020B0A04020102020204" pitchFamily="34" charset="0"/>
                <a:cs typeface="Arial Black" panose="020B0A04020102020204" pitchFamily="34" charset="0"/>
              </a:rPr>
              <a:t>Ethers containing tertiary alkyl groups transform even in dilute acid to give intermediate tertiary carbocations, which are either trapped by SN</a:t>
            </a:r>
            <a:r>
              <a:rPr lang="en-US" altLang="en-US" sz="2000" baseline="-25000">
                <a:latin typeface="Arial Black" panose="020B0A04020102020204" pitchFamily="34" charset="0"/>
                <a:cs typeface="Arial Black" panose="020B0A04020102020204" pitchFamily="34" charset="0"/>
              </a:rPr>
              <a:t>l</a:t>
            </a:r>
            <a:r>
              <a:rPr lang="en-US" altLang="en-US" sz="2000">
                <a:latin typeface="Arial Black" panose="020B0A04020102020204" pitchFamily="34" charset="0"/>
                <a:cs typeface="Arial Black" panose="020B0A04020102020204" pitchFamily="34" charset="0"/>
              </a:rPr>
              <a:t> processes, when good nucleophiles are present, or deprotonated in their absence:Because tertiary ethers are made under similarly mild conditions from alcohols/</a:t>
            </a:r>
            <a:endParaRPr lang="en-US" altLang="en-US" sz="2000">
              <a:latin typeface="Arial Black" panose="020B0A04020102020204" pitchFamily="34" charset="0"/>
              <a:cs typeface="Arial Black" panose="020B0A04020102020204" pitchFamily="34" charset="0"/>
            </a:endParaRPr>
          </a:p>
          <a:p>
            <a:pPr marL="342900" indent="-342900" algn="just">
              <a:buFont typeface="Wingdings" panose="05000000000000000000" charset="0"/>
              <a:buChar char="q"/>
            </a:pPr>
            <a:r>
              <a:rPr lang="en-US" altLang="en-US" sz="2000">
                <a:latin typeface="Arial Black" panose="020B0A04020102020204" pitchFamily="34" charset="0"/>
                <a:cs typeface="Arial Black" panose="020B0A04020102020204" pitchFamily="34" charset="0"/>
              </a:rPr>
              <a:t>they act as protecting groups for the hydroxy function. A protecting group renders a specific functionality in a molecule unreactive with respect to reagents and conditions that would normally transform it.</a:t>
            </a:r>
            <a:endParaRPr lang="en-US" altLang="en-US" sz="2000">
              <a:latin typeface="Arial Black" panose="020B0A04020102020204" pitchFamily="34" charset="0"/>
              <a:cs typeface="Arial Black" panose="020B0A04020102020204" pitchFamily="34" charset="0"/>
            </a:endParaRPr>
          </a:p>
          <a:p>
            <a:pPr marL="342900" indent="-342900" algn="just">
              <a:buFont typeface="Wingdings" panose="05000000000000000000" charset="0"/>
              <a:buChar char="q"/>
            </a:pPr>
            <a:r>
              <a:rPr lang="en-US" altLang="en-US" sz="2000">
                <a:latin typeface="Arial Black" panose="020B0A04020102020204" pitchFamily="34" charset="0"/>
                <a:cs typeface="Arial Black" panose="020B0A04020102020204" pitchFamily="34" charset="0"/>
              </a:rPr>
              <a:t> Such protection allows chemistry to be carried out elsewhere in a molecule without interference.</a:t>
            </a:r>
            <a:endParaRPr lang="en-US" altLang="en-US" sz="2000">
              <a:latin typeface="Arial Black" panose="020B0A04020102020204" pitchFamily="34" charset="0"/>
              <a:cs typeface="Arial Black" panose="020B0A04020102020204" pitchFamily="34" charset="0"/>
            </a:endParaRPr>
          </a:p>
        </p:txBody>
      </p:sp>
      <p:pic>
        <p:nvPicPr>
          <p:cNvPr id="4" name="Picture 3"/>
          <p:cNvPicPr>
            <a:picLocks noChangeAspect="1"/>
          </p:cNvPicPr>
          <p:nvPr/>
        </p:nvPicPr>
        <p:blipFill>
          <a:blip r:embed="rId1"/>
          <a:stretch>
            <a:fillRect/>
          </a:stretch>
        </p:blipFill>
        <p:spPr>
          <a:xfrm>
            <a:off x="179705" y="4460875"/>
            <a:ext cx="8806815" cy="20148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pic>
        <p:nvPicPr>
          <p:cNvPr id="3" name="Picture 2"/>
          <p:cNvPicPr>
            <a:picLocks noChangeAspect="1"/>
          </p:cNvPicPr>
          <p:nvPr/>
        </p:nvPicPr>
        <p:blipFill>
          <a:blip r:embed="rId1"/>
          <a:stretch>
            <a:fillRect/>
          </a:stretch>
        </p:blipFill>
        <p:spPr>
          <a:xfrm>
            <a:off x="-36830" y="3710305"/>
            <a:ext cx="9278620" cy="2366645"/>
          </a:xfrm>
          <a:prstGeom prst="rect">
            <a:avLst/>
          </a:prstGeom>
        </p:spPr>
      </p:pic>
      <p:sp>
        <p:nvSpPr>
          <p:cNvPr id="4" name="Text Box 3"/>
          <p:cNvSpPr txBox="1"/>
          <p:nvPr/>
        </p:nvSpPr>
        <p:spPr>
          <a:xfrm>
            <a:off x="0" y="0"/>
            <a:ext cx="9109710" cy="2132965"/>
          </a:xfrm>
          <a:prstGeom prst="rect">
            <a:avLst/>
          </a:prstGeom>
          <a:noFill/>
        </p:spPr>
        <p:txBody>
          <a:bodyPr wrap="square" rtlCol="0" anchor="t">
            <a:noAutofit/>
          </a:bodyPr>
          <a:p>
            <a:pPr marL="342900" indent="-342900" algn="just">
              <a:buFont typeface="Wingdings" panose="05000000000000000000" charset="0"/>
              <a:buChar char="q"/>
            </a:pPr>
            <a:r>
              <a:rPr lang="en-US" altLang="en-US" sz="2000">
                <a:latin typeface="Arial Black" panose="020B0A04020102020204" pitchFamily="34" charset="0"/>
                <a:cs typeface="Arial Black" panose="020B0A04020102020204" pitchFamily="34" charset="0"/>
              </a:rPr>
              <a:t>Oxacyclopropane is subject to bimolecular ring opening by anionic nucleophiles. Because of the symmetry of the substrate, substitution occurs to the same extent at either carbon. The reaction proceeds by nucleophilic attack, with the ether oxygen functioning as an intramolecular leaving group.</a:t>
            </a:r>
            <a:endParaRPr lang="en-US" altLang="en-US" sz="2000">
              <a:latin typeface="Arial Black" panose="020B0A04020102020204" pitchFamily="34" charset="0"/>
              <a:cs typeface="Arial Black" panose="020B0A04020102020204" pitchFamily="34" charset="0"/>
            </a:endParaRPr>
          </a:p>
          <a:p>
            <a:pPr marL="342900" indent="-342900" algn="just">
              <a:buFont typeface="Wingdings" panose="05000000000000000000" charset="0"/>
              <a:buChar char="q"/>
            </a:pPr>
            <a:r>
              <a:rPr lang="en-US" altLang="en-US" sz="2000">
                <a:latin typeface="Arial Black" panose="020B0A04020102020204" pitchFamily="34" charset="0"/>
                <a:cs typeface="Arial Black" panose="020B0A04020102020204" pitchFamily="34" charset="0"/>
              </a:rPr>
              <a:t>This SN2 transformation is unusual for two reasons. First, alkoxides are usually very poor leaving groups. Second, the leaving group does not actually “leave”; it stays bound to the molecule. The driving force is the release of strain as the ring opens.</a:t>
            </a:r>
            <a:endParaRPr lang="en-US" altLang="en-US" sz="2000">
              <a:latin typeface="Arial Black" panose="020B0A04020102020204" pitchFamily="34" charset="0"/>
              <a:cs typeface="Arial Black" panose="020B0A040201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pic>
        <p:nvPicPr>
          <p:cNvPr id="3" name="Picture 2"/>
          <p:cNvPicPr>
            <a:picLocks noChangeAspect="1"/>
          </p:cNvPicPr>
          <p:nvPr/>
        </p:nvPicPr>
        <p:blipFill>
          <a:blip r:embed="rId1"/>
          <a:stretch>
            <a:fillRect/>
          </a:stretch>
        </p:blipFill>
        <p:spPr>
          <a:xfrm>
            <a:off x="755015" y="3837940"/>
            <a:ext cx="8242935" cy="2736850"/>
          </a:xfrm>
          <a:prstGeom prst="rect">
            <a:avLst/>
          </a:prstGeom>
        </p:spPr>
      </p:pic>
      <p:sp>
        <p:nvSpPr>
          <p:cNvPr id="4" name="Text Box 3"/>
          <p:cNvSpPr txBox="1"/>
          <p:nvPr/>
        </p:nvSpPr>
        <p:spPr>
          <a:xfrm>
            <a:off x="0" y="-27305"/>
            <a:ext cx="9133840" cy="3784600"/>
          </a:xfrm>
          <a:prstGeom prst="rect">
            <a:avLst/>
          </a:prstGeom>
          <a:noFill/>
        </p:spPr>
        <p:txBody>
          <a:bodyPr wrap="square" rtlCol="0" anchor="t">
            <a:spAutoFit/>
          </a:bodyPr>
          <a:p>
            <a:pPr marL="342900" indent="-342900" algn="just">
              <a:buFont typeface="Wingdings" panose="05000000000000000000" charset="0"/>
              <a:buChar char="q"/>
            </a:pPr>
            <a:r>
              <a:rPr lang="en-US" altLang="en-US" sz="2000">
                <a:latin typeface="Arial Black" panose="020B0A04020102020204" pitchFamily="34" charset="0"/>
                <a:cs typeface="Arial Black" panose="020B0A04020102020204" pitchFamily="34" charset="0"/>
              </a:rPr>
              <a:t>Consider, for example, the reaction of 2,2-dimethyloxacyclopropane with methoxide. There are two possible reaction sites: at the primary carbon (a), to give 1-methoxy-2-methyl-2-propanol, and at the tertiary carbon (b), to yield 2-methoxy-2-methyl-1-propanol. Evidently, this system transforms solely through path a.</a:t>
            </a:r>
            <a:endParaRPr lang="en-US" altLang="en-US" sz="2000">
              <a:latin typeface="Arial Black" panose="020B0A04020102020204" pitchFamily="34" charset="0"/>
              <a:cs typeface="Arial Black" panose="020B0A04020102020204" pitchFamily="34" charset="0"/>
            </a:endParaRPr>
          </a:p>
          <a:p>
            <a:pPr marL="342900" indent="-342900" algn="just">
              <a:buFont typeface="Wingdings" panose="05000000000000000000" charset="0"/>
              <a:buChar char="q"/>
            </a:pPr>
            <a:r>
              <a:rPr lang="en-US" altLang="en-US" sz="2000">
                <a:latin typeface="Arial Black" panose="020B0A04020102020204" pitchFamily="34" charset="0"/>
                <a:cs typeface="Arial Black" panose="020B0A04020102020204" pitchFamily="34" charset="0"/>
              </a:rPr>
              <a:t>because, as we know, if there is more than one possibility, SN2 attack will be at the less substituted carbon center . This selectivity in the nucleophilic opening of substituted oxacyclopropanes is referred to as regioselectivity, because, of two possible and similar “regions,” the nucleophile attacks only one.</a:t>
            </a:r>
            <a:endParaRPr lang="en-US" altLang="en-US" sz="2000">
              <a:latin typeface="Arial Black" panose="020B0A04020102020204" pitchFamily="34" charset="0"/>
              <a:cs typeface="Arial Black" panose="020B0A040201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pic>
        <p:nvPicPr>
          <p:cNvPr id="3" name="Picture 2"/>
          <p:cNvPicPr>
            <a:picLocks noChangeAspect="1"/>
          </p:cNvPicPr>
          <p:nvPr/>
        </p:nvPicPr>
        <p:blipFill>
          <a:blip r:embed="rId1"/>
          <a:stretch>
            <a:fillRect/>
          </a:stretch>
        </p:blipFill>
        <p:spPr>
          <a:xfrm>
            <a:off x="467360" y="2493010"/>
            <a:ext cx="7208520" cy="4291330"/>
          </a:xfrm>
          <a:prstGeom prst="rect">
            <a:avLst/>
          </a:prstGeom>
        </p:spPr>
      </p:pic>
      <p:sp>
        <p:nvSpPr>
          <p:cNvPr id="4" name="Text Box 3"/>
          <p:cNvSpPr txBox="1"/>
          <p:nvPr/>
        </p:nvSpPr>
        <p:spPr>
          <a:xfrm>
            <a:off x="-36830" y="0"/>
            <a:ext cx="9180830" cy="2553335"/>
          </a:xfrm>
          <a:prstGeom prst="rect">
            <a:avLst/>
          </a:prstGeom>
          <a:noFill/>
        </p:spPr>
        <p:txBody>
          <a:bodyPr wrap="square" rtlCol="0" anchor="t">
            <a:spAutoFit/>
          </a:bodyPr>
          <a:p>
            <a:pPr marL="342900" indent="-342900" algn="just">
              <a:buFont typeface="Wingdings" panose="05000000000000000000" charset="0"/>
              <a:buChar char="q"/>
            </a:pPr>
            <a:r>
              <a:rPr lang="en-US" altLang="en-US" sz="2000">
                <a:latin typeface="Arial Black" panose="020B0A04020102020204" pitchFamily="34" charset="0"/>
                <a:cs typeface="Arial Black" panose="020B0A04020102020204" pitchFamily="34" charset="0"/>
              </a:rPr>
              <a:t>The highly reactive lithium aluminum hydride is able to open the rings of oxacyclopropanes, a reaction leading to alcohols.</a:t>
            </a:r>
            <a:endParaRPr lang="en-US" altLang="en-US" sz="2000">
              <a:latin typeface="Arial Black" panose="020B0A04020102020204" pitchFamily="34" charset="0"/>
              <a:cs typeface="Arial Black" panose="020B0A04020102020204" pitchFamily="34" charset="0"/>
            </a:endParaRPr>
          </a:p>
          <a:p>
            <a:pPr marL="342900" indent="-342900" algn="just">
              <a:buFont typeface="Wingdings" panose="05000000000000000000" charset="0"/>
              <a:buChar char="q"/>
            </a:pPr>
            <a:r>
              <a:rPr lang="en-US" altLang="en-US" sz="2000">
                <a:latin typeface="Arial Black" panose="020B0A04020102020204" pitchFamily="34" charset="0"/>
                <a:cs typeface="Arial Black" panose="020B0A04020102020204" pitchFamily="34" charset="0"/>
              </a:rPr>
              <a:t>Ordinary ethers, lacking the ring strain of oxacyclopropanes,</a:t>
            </a:r>
            <a:endParaRPr lang="en-US" altLang="en-US" sz="2000">
              <a:latin typeface="Arial Black" panose="020B0A04020102020204" pitchFamily="34" charset="0"/>
              <a:cs typeface="Arial Black" panose="020B0A04020102020204" pitchFamily="34" charset="0"/>
            </a:endParaRPr>
          </a:p>
          <a:p>
            <a:pPr algn="just"/>
            <a:r>
              <a:rPr lang="en-US" altLang="en-US" sz="2000">
                <a:latin typeface="Arial Black" panose="020B0A04020102020204" pitchFamily="34" charset="0"/>
                <a:cs typeface="Arial Black" panose="020B0A04020102020204" pitchFamily="34" charset="0"/>
              </a:rPr>
              <a:t>do not react with LiAlH</a:t>
            </a:r>
            <a:r>
              <a:rPr lang="en-US" altLang="en-US" sz="2000" baseline="-25000">
                <a:latin typeface="Arial Black" panose="020B0A04020102020204" pitchFamily="34" charset="0"/>
                <a:cs typeface="Arial Black" panose="020B0A04020102020204" pitchFamily="34" charset="0"/>
              </a:rPr>
              <a:t>4</a:t>
            </a:r>
            <a:r>
              <a:rPr lang="en-US" altLang="en-US" sz="2000">
                <a:latin typeface="Arial Black" panose="020B0A04020102020204" pitchFamily="34" charset="0"/>
                <a:cs typeface="Arial Black" panose="020B0A04020102020204" pitchFamily="34" charset="0"/>
              </a:rPr>
              <a:t>. The reaction also proceeds by the SN</a:t>
            </a:r>
            <a:r>
              <a:rPr lang="en-US" altLang="en-US" sz="2000" baseline="-25000">
                <a:latin typeface="Arial Black" panose="020B0A04020102020204" pitchFamily="34" charset="0"/>
                <a:cs typeface="Arial Black" panose="020B0A04020102020204" pitchFamily="34" charset="0"/>
              </a:rPr>
              <a:t>2</a:t>
            </a:r>
            <a:r>
              <a:rPr lang="en-US" altLang="en-US" sz="2000">
                <a:latin typeface="Arial Black" panose="020B0A04020102020204" pitchFamily="34" charset="0"/>
                <a:cs typeface="Arial Black" panose="020B0A04020102020204" pitchFamily="34" charset="0"/>
              </a:rPr>
              <a:t> mechanism. </a:t>
            </a:r>
            <a:endParaRPr lang="en-US" altLang="en-US" sz="2000">
              <a:latin typeface="Arial Black" panose="020B0A04020102020204" pitchFamily="34" charset="0"/>
              <a:cs typeface="Arial Black" panose="020B0A04020102020204" pitchFamily="34" charset="0"/>
            </a:endParaRPr>
          </a:p>
          <a:p>
            <a:pPr marL="342900" indent="-342900" algn="just">
              <a:buFont typeface="Wingdings" panose="05000000000000000000" charset="0"/>
              <a:buChar char="q"/>
            </a:pPr>
            <a:r>
              <a:rPr lang="en-US" altLang="en-US" sz="2000">
                <a:latin typeface="Arial Black" panose="020B0A04020102020204" pitchFamily="34" charset="0"/>
                <a:cs typeface="Arial Black" panose="020B0A04020102020204" pitchFamily="34" charset="0"/>
              </a:rPr>
              <a:t>Thus, in unsymmetric systems, the hydride attacks the less substituted side; when the reacting carbon</a:t>
            </a:r>
            <a:endParaRPr lang="en-US" altLang="en-US" sz="2000">
              <a:latin typeface="Arial Black" panose="020B0A04020102020204" pitchFamily="34" charset="0"/>
              <a:cs typeface="Arial Black" panose="020B0A04020102020204" pitchFamily="34" charset="0"/>
            </a:endParaRPr>
          </a:p>
          <a:p>
            <a:pPr marL="342900" indent="-342900" algn="just">
              <a:buFont typeface="Wingdings" panose="05000000000000000000" charset="0"/>
              <a:buChar char="q"/>
            </a:pPr>
            <a:r>
              <a:rPr lang="en-US" altLang="en-US" sz="2000">
                <a:latin typeface="Arial Black" panose="020B0A04020102020204" pitchFamily="34" charset="0"/>
                <a:cs typeface="Arial Black" panose="020B0A04020102020204" pitchFamily="34" charset="0"/>
              </a:rPr>
              <a:t>constitutes a stereocenter, inversion is observed.</a:t>
            </a:r>
            <a:endParaRPr lang="en-US" sz="2000">
              <a:latin typeface="Arial Black" panose="020B0A04020102020204" pitchFamily="34" charset="0"/>
              <a:cs typeface="Arial Black" panose="020B0A040201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pic>
        <p:nvPicPr>
          <p:cNvPr id="3" name="Picture 2"/>
          <p:cNvPicPr>
            <a:picLocks noChangeAspect="1"/>
          </p:cNvPicPr>
          <p:nvPr/>
        </p:nvPicPr>
        <p:blipFill>
          <a:blip r:embed="rId1"/>
          <a:stretch>
            <a:fillRect/>
          </a:stretch>
        </p:blipFill>
        <p:spPr>
          <a:xfrm>
            <a:off x="299720" y="3407410"/>
            <a:ext cx="8544560" cy="2663190"/>
          </a:xfrm>
          <a:prstGeom prst="rect">
            <a:avLst/>
          </a:prstGeom>
        </p:spPr>
      </p:pic>
      <p:sp>
        <p:nvSpPr>
          <p:cNvPr id="4" name="Text Box 3"/>
          <p:cNvSpPr txBox="1"/>
          <p:nvPr/>
        </p:nvSpPr>
        <p:spPr>
          <a:xfrm>
            <a:off x="-36195" y="-27305"/>
            <a:ext cx="9180195" cy="2970530"/>
          </a:xfrm>
          <a:prstGeom prst="rect">
            <a:avLst/>
          </a:prstGeom>
          <a:noFill/>
        </p:spPr>
        <p:txBody>
          <a:bodyPr wrap="square" rtlCol="0" anchor="t">
            <a:noAutofit/>
          </a:bodyPr>
          <a:p>
            <a:pPr marL="342900" indent="-342900">
              <a:buFont typeface="Wingdings" panose="05000000000000000000" charset="0"/>
              <a:buChar char="q"/>
            </a:pPr>
            <a:r>
              <a:rPr lang="en-US" altLang="en-US" sz="2000">
                <a:latin typeface="Arial Black" panose="020B0A04020102020204" pitchFamily="34" charset="0"/>
                <a:cs typeface="Arial Black" panose="020B0A04020102020204" pitchFamily="34" charset="0"/>
              </a:rPr>
              <a:t>In contrast with haloalkanes (Section 8-8), oxacyclopropanes are sufficiently reactive electrophiles to be attacked by organometallic compounds. </a:t>
            </a:r>
            <a:endParaRPr lang="en-US" altLang="en-US" sz="2000">
              <a:latin typeface="Arial Black" panose="020B0A04020102020204" pitchFamily="34" charset="0"/>
              <a:cs typeface="Arial Black" panose="020B0A04020102020204" pitchFamily="34" charset="0"/>
            </a:endParaRPr>
          </a:p>
          <a:p>
            <a:pPr marL="342900" indent="-342900">
              <a:buFont typeface="Wingdings" panose="05000000000000000000" charset="0"/>
              <a:buChar char="q"/>
            </a:pPr>
            <a:r>
              <a:rPr lang="en-US" altLang="en-US" sz="2000">
                <a:latin typeface="Arial Black" panose="020B0A04020102020204" pitchFamily="34" charset="0"/>
                <a:cs typeface="Arial Black" panose="020B0A04020102020204" pitchFamily="34" charset="0"/>
              </a:rPr>
              <a:t>Thus, Grignard reagents and alkyllithium compounds undergo 2-hydroxyethylation by ether ring opening, following the SN2 mechanism. </a:t>
            </a:r>
            <a:endParaRPr lang="en-US" altLang="en-US" sz="2000">
              <a:latin typeface="Arial Black" panose="020B0A04020102020204" pitchFamily="34" charset="0"/>
              <a:cs typeface="Arial Black" panose="020B0A04020102020204" pitchFamily="34" charset="0"/>
            </a:endParaRPr>
          </a:p>
          <a:p>
            <a:pPr marL="342900" indent="-342900">
              <a:buFont typeface="Wingdings" panose="05000000000000000000" charset="0"/>
              <a:buChar char="q"/>
            </a:pPr>
            <a:r>
              <a:rPr lang="en-US" altLang="en-US" sz="2000">
                <a:latin typeface="Arial Black" panose="020B0A04020102020204" pitchFamily="34" charset="0"/>
                <a:cs typeface="Arial Black" panose="020B0A04020102020204" pitchFamily="34" charset="0"/>
              </a:rPr>
              <a:t>This reaction constitutes a two-carbon homologation of an alkyl chain, as opposed to the one-carbon homologation of alkyl organometallic reagents by formaldehyde.</a:t>
            </a:r>
            <a:endParaRPr lang="en-US" altLang="en-US" sz="2000">
              <a:latin typeface="Arial Black" panose="020B0A04020102020204" pitchFamily="34" charset="0"/>
              <a:cs typeface="Arial Black" panose="020B0A04020102020204" pitchFamily="34" charset="0"/>
            </a:endParaRPr>
          </a:p>
          <a:p>
            <a:endParaRPr lang="en-US" sz="2000">
              <a:latin typeface="Arial Black" panose="020B0A04020102020204" pitchFamily="34" charset="0"/>
              <a:cs typeface="Arial Black" panose="020B0A040201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pic>
        <p:nvPicPr>
          <p:cNvPr id="3" name="Picture 2"/>
          <p:cNvPicPr>
            <a:picLocks noChangeAspect="1"/>
          </p:cNvPicPr>
          <p:nvPr/>
        </p:nvPicPr>
        <p:blipFill>
          <a:blip r:embed="rId1"/>
          <a:stretch>
            <a:fillRect/>
          </a:stretch>
        </p:blipFill>
        <p:spPr>
          <a:xfrm>
            <a:off x="539750" y="3141345"/>
            <a:ext cx="8409940" cy="1530985"/>
          </a:xfrm>
          <a:prstGeom prst="rect">
            <a:avLst/>
          </a:prstGeom>
        </p:spPr>
      </p:pic>
      <p:sp>
        <p:nvSpPr>
          <p:cNvPr id="4" name="Text Box 3"/>
          <p:cNvSpPr txBox="1"/>
          <p:nvPr/>
        </p:nvSpPr>
        <p:spPr>
          <a:xfrm>
            <a:off x="-36830" y="-31750"/>
            <a:ext cx="9221470" cy="2520950"/>
          </a:xfrm>
          <a:prstGeom prst="rect">
            <a:avLst/>
          </a:prstGeom>
          <a:noFill/>
        </p:spPr>
        <p:txBody>
          <a:bodyPr wrap="square" rtlCol="0" anchor="t">
            <a:noAutofit/>
          </a:bodyPr>
          <a:p>
            <a:r>
              <a:rPr lang="en-US" altLang="en-US" sz="2400" u="sng">
                <a:latin typeface="Arial Black" panose="020B0A04020102020204" pitchFamily="34" charset="0"/>
                <a:cs typeface="Arial Black" panose="020B0A04020102020204" pitchFamily="34" charset="0"/>
              </a:rPr>
              <a:t>Acids catalyze oxacyclopropane ring opening</a:t>
            </a:r>
            <a:endParaRPr lang="en-US" altLang="en-US" sz="2400" u="sng">
              <a:latin typeface="Arial Black" panose="020B0A04020102020204" pitchFamily="34" charset="0"/>
              <a:cs typeface="Arial Black" panose="020B0A04020102020204" pitchFamily="34" charset="0"/>
            </a:endParaRPr>
          </a:p>
          <a:p>
            <a:pPr marL="342900" indent="-342900" algn="just">
              <a:buFont typeface="Wingdings" panose="05000000000000000000" charset="0"/>
              <a:buChar char="q"/>
            </a:pPr>
            <a:r>
              <a:rPr lang="en-US" altLang="en-US" sz="2000">
                <a:latin typeface="Arial Black" panose="020B0A04020102020204" pitchFamily="34" charset="0"/>
                <a:cs typeface="Arial Black" panose="020B0A04020102020204" pitchFamily="34" charset="0"/>
              </a:rPr>
              <a:t>Ring opening of oxacyclopropanes is also catalyzed by acids. The reaction in this case proceeds through initial cyclic alkyloxonium ion formation followed by ring opening as a</a:t>
            </a:r>
            <a:endParaRPr lang="en-US" altLang="en-US" sz="2000">
              <a:latin typeface="Arial Black" panose="020B0A04020102020204" pitchFamily="34" charset="0"/>
              <a:cs typeface="Arial Black" panose="020B0A04020102020204" pitchFamily="34" charset="0"/>
            </a:endParaRPr>
          </a:p>
          <a:p>
            <a:pPr algn="just"/>
            <a:r>
              <a:rPr lang="en-US" altLang="en-US" sz="2000">
                <a:latin typeface="Arial Black" panose="020B0A04020102020204" pitchFamily="34" charset="0"/>
                <a:cs typeface="Arial Black" panose="020B0A04020102020204" pitchFamily="34" charset="0"/>
              </a:rPr>
              <a:t>result of nucleophilic attack.</a:t>
            </a:r>
            <a:endParaRPr lang="en-US" altLang="en-US" sz="2000">
              <a:latin typeface="Arial Black" panose="020B0A04020102020204" pitchFamily="34" charset="0"/>
              <a:cs typeface="Arial Black" panose="020B0A04020102020204" pitchFamily="34" charset="0"/>
            </a:endParaRPr>
          </a:p>
          <a:p>
            <a:pPr marL="342900" indent="-342900" algn="just">
              <a:buFont typeface="Wingdings" panose="05000000000000000000" charset="0"/>
              <a:buChar char="q"/>
            </a:pPr>
            <a:r>
              <a:rPr lang="en-US" altLang="en-US" sz="2000">
                <a:latin typeface="Arial Black" panose="020B0A04020102020204" pitchFamily="34" charset="0"/>
                <a:cs typeface="Arial Black" panose="020B0A04020102020204" pitchFamily="34" charset="0"/>
              </a:rPr>
              <a:t>Thus, acid-catalyzed methanolysis of 2,2- dimethyloxacyclopropane proceeds by exclusive ring opening at the more hindered carbon.</a:t>
            </a:r>
            <a:endParaRPr lang="en-US" altLang="en-US" sz="2000">
              <a:latin typeface="Arial Black" panose="020B0A04020102020204" pitchFamily="34" charset="0"/>
              <a:cs typeface="Arial Black" panose="020B0A040201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pic>
        <p:nvPicPr>
          <p:cNvPr id="5" name="Picture 4"/>
          <p:cNvPicPr>
            <a:picLocks noChangeAspect="1"/>
          </p:cNvPicPr>
          <p:nvPr/>
        </p:nvPicPr>
        <p:blipFill>
          <a:blip r:embed="rId1"/>
          <a:stretch>
            <a:fillRect/>
          </a:stretch>
        </p:blipFill>
        <p:spPr>
          <a:xfrm>
            <a:off x="179705" y="535940"/>
            <a:ext cx="8776970" cy="3118485"/>
          </a:xfrm>
          <a:prstGeom prst="rect">
            <a:avLst/>
          </a:prstGeom>
        </p:spPr>
      </p:pic>
      <p:pic>
        <p:nvPicPr>
          <p:cNvPr id="4" name="Picture 3"/>
          <p:cNvPicPr>
            <a:picLocks noChangeAspect="1"/>
          </p:cNvPicPr>
          <p:nvPr/>
        </p:nvPicPr>
        <p:blipFill>
          <a:blip r:embed="rId2"/>
          <a:stretch>
            <a:fillRect/>
          </a:stretch>
        </p:blipFill>
        <p:spPr>
          <a:xfrm>
            <a:off x="971550" y="3933190"/>
            <a:ext cx="6739255" cy="257683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sp>
        <p:nvSpPr>
          <p:cNvPr id="3" name="Text Box 2"/>
          <p:cNvSpPr txBox="1"/>
          <p:nvPr/>
        </p:nvSpPr>
        <p:spPr>
          <a:xfrm>
            <a:off x="34925" y="-27305"/>
            <a:ext cx="9053195" cy="4707890"/>
          </a:xfrm>
          <a:prstGeom prst="rect">
            <a:avLst/>
          </a:prstGeom>
          <a:noFill/>
        </p:spPr>
        <p:txBody>
          <a:bodyPr wrap="square" rtlCol="0" anchor="t">
            <a:spAutoFit/>
          </a:bodyPr>
          <a:p>
            <a:pPr marL="342900" indent="-342900" algn="just">
              <a:buFont typeface="Wingdings" panose="05000000000000000000" charset="0"/>
              <a:buChar char="q"/>
            </a:pPr>
            <a:r>
              <a:rPr lang="en-US" altLang="en-US" sz="2000">
                <a:latin typeface="Arial Black" panose="020B0A04020102020204" pitchFamily="34" charset="0"/>
                <a:cs typeface="Arial Black" panose="020B0A04020102020204" pitchFamily="34" charset="0"/>
              </a:rPr>
              <a:t>Why is the more hindered position attacked? </a:t>
            </a:r>
            <a:endParaRPr lang="en-US" altLang="en-US" sz="2000">
              <a:latin typeface="Arial Black" panose="020B0A04020102020204" pitchFamily="34" charset="0"/>
              <a:cs typeface="Arial Black" panose="020B0A04020102020204" pitchFamily="34" charset="0"/>
            </a:endParaRPr>
          </a:p>
          <a:p>
            <a:pPr marL="342900" indent="-342900" algn="just">
              <a:buFont typeface="Wingdings" panose="05000000000000000000" charset="0"/>
              <a:buChar char="q"/>
            </a:pPr>
            <a:r>
              <a:rPr lang="en-US" altLang="en-US" sz="2000">
                <a:latin typeface="Arial Black" panose="020B0A04020102020204" pitchFamily="34" charset="0"/>
                <a:cs typeface="Arial Black" panose="020B0A04020102020204" pitchFamily="34" charset="0"/>
              </a:rPr>
              <a:t>Protonation at the oxygen of the ether generates a reactive intermediate alkyloxonium ion with substantially polarized oxygen – carbon bonds. This polarization places partial positive charges on the ring carbons. </a:t>
            </a:r>
            <a:endParaRPr lang="en-US" altLang="en-US" sz="2000">
              <a:latin typeface="Arial Black" panose="020B0A04020102020204" pitchFamily="34" charset="0"/>
              <a:cs typeface="Arial Black" panose="020B0A04020102020204" pitchFamily="34" charset="0"/>
            </a:endParaRPr>
          </a:p>
          <a:p>
            <a:pPr marL="342900" indent="-342900" algn="just">
              <a:buFont typeface="Wingdings" panose="05000000000000000000" charset="0"/>
              <a:buChar char="q"/>
            </a:pPr>
            <a:r>
              <a:rPr lang="en-US" altLang="en-US" sz="2000">
                <a:latin typeface="Arial Black" panose="020B0A04020102020204" pitchFamily="34" charset="0"/>
                <a:cs typeface="Arial Black" panose="020B0A04020102020204" pitchFamily="34" charset="0"/>
              </a:rPr>
              <a:t>Because alkyl groups act as electron donors (Section 7-5), more positive charge is located on the tertiary than on the primary carbon. </a:t>
            </a:r>
            <a:endParaRPr lang="en-US" altLang="en-US" sz="2000">
              <a:latin typeface="Arial Black" panose="020B0A04020102020204" pitchFamily="34" charset="0"/>
              <a:cs typeface="Arial Black" panose="020B0A04020102020204" pitchFamily="34" charset="0"/>
            </a:endParaRPr>
          </a:p>
          <a:p>
            <a:pPr marL="342900" indent="-342900" algn="just">
              <a:buFont typeface="Wingdings" panose="05000000000000000000" charset="0"/>
              <a:buChar char="q"/>
            </a:pPr>
            <a:r>
              <a:rPr lang="en-US" altLang="en-US" sz="2000">
                <a:latin typeface="Arial Black" panose="020B0A04020102020204" pitchFamily="34" charset="0"/>
                <a:cs typeface="Arial Black" panose="020B0A04020102020204" pitchFamily="34" charset="0"/>
              </a:rPr>
              <a:t>You can see this difference in the electrostatic potential map in the margin, in which the molecule is viewed from the perspective of the attacking nucleophile. </a:t>
            </a:r>
            <a:endParaRPr lang="en-US" altLang="en-US" sz="2000">
              <a:latin typeface="Arial Black" panose="020B0A04020102020204" pitchFamily="34" charset="0"/>
              <a:cs typeface="Arial Black" panose="020B0A04020102020204" pitchFamily="34" charset="0"/>
            </a:endParaRPr>
          </a:p>
          <a:p>
            <a:pPr marL="342900" indent="-342900" algn="just">
              <a:buFont typeface="Wingdings" panose="05000000000000000000" charset="0"/>
              <a:buChar char="q"/>
            </a:pPr>
            <a:r>
              <a:rPr lang="en-US" altLang="en-US" sz="2000">
                <a:latin typeface="Arial Black" panose="020B0A04020102020204" pitchFamily="34" charset="0"/>
                <a:cs typeface="Arial Black" panose="020B0A04020102020204" pitchFamily="34" charset="0"/>
              </a:rPr>
              <a:t>The tertiary carbon at the bottom is more positive (blue) than the primary neighbor above (green). The proton in the back is strongly blue. The color-energy scale of this map was changed to make this subtle gradation in shading visible.</a:t>
            </a:r>
            <a:endParaRPr lang="en-US" sz="2000">
              <a:latin typeface="Arial Black" panose="020B0A04020102020204" pitchFamily="34" charset="0"/>
              <a:cs typeface="Arial Black" panose="020B0A040201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pic>
        <p:nvPicPr>
          <p:cNvPr id="3" name="Picture 2"/>
          <p:cNvPicPr>
            <a:picLocks noChangeAspect="1"/>
          </p:cNvPicPr>
          <p:nvPr/>
        </p:nvPicPr>
        <p:blipFill>
          <a:blip r:embed="rId1"/>
          <a:stretch>
            <a:fillRect/>
          </a:stretch>
        </p:blipFill>
        <p:spPr>
          <a:xfrm>
            <a:off x="107315" y="-27305"/>
            <a:ext cx="8973185" cy="2242820"/>
          </a:xfrm>
          <a:prstGeom prst="rect">
            <a:avLst/>
          </a:prstGeom>
        </p:spPr>
      </p:pic>
      <p:pic>
        <p:nvPicPr>
          <p:cNvPr id="4" name="Picture 3"/>
          <p:cNvPicPr>
            <a:picLocks noChangeAspect="1"/>
          </p:cNvPicPr>
          <p:nvPr/>
        </p:nvPicPr>
        <p:blipFill>
          <a:blip r:embed="rId2"/>
          <a:stretch>
            <a:fillRect/>
          </a:stretch>
        </p:blipFill>
        <p:spPr>
          <a:xfrm>
            <a:off x="-36830" y="3429000"/>
            <a:ext cx="9175115" cy="2155825"/>
          </a:xfrm>
          <a:prstGeom prst="rect">
            <a:avLst/>
          </a:prstGeom>
        </p:spPr>
      </p:pic>
      <p:pic>
        <p:nvPicPr>
          <p:cNvPr id="5" name="Picture 4"/>
          <p:cNvPicPr>
            <a:picLocks noChangeAspect="1"/>
          </p:cNvPicPr>
          <p:nvPr/>
        </p:nvPicPr>
        <p:blipFill>
          <a:blip r:embed="rId3"/>
          <a:stretch>
            <a:fillRect/>
          </a:stretch>
        </p:blipFill>
        <p:spPr>
          <a:xfrm>
            <a:off x="179705" y="2781300"/>
            <a:ext cx="6266815" cy="8839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pPr lvl="0" fontAlgn="base">
              <a:buNone/>
            </a:pPr>
            <a:fld id="{9A0DB2DC-4C9A-4742-B13C-FB6460FD3503}" type="slidenum">
              <a:rPr lang="en-IN" altLang="x-none" strike="noStrike" noProof="1" dirty="0">
                <a:latin typeface="Calibri" panose="020F0502020204030204" pitchFamily="34" charset="0"/>
                <a:ea typeface="Arial" panose="020B0604020202020204" pitchFamily="34" charset="0"/>
                <a:cs typeface="+mn-cs"/>
              </a:rPr>
            </a:fld>
            <a:endParaRPr lang="en-IN" altLang="x-none" strike="noStrike" noProof="1" dirty="0">
              <a:latin typeface="Calibri" panose="020F0502020204030204" pitchFamily="34" charset="0"/>
              <a:ea typeface="Arial" panose="020B0604020202020204" pitchFamily="34" charset="0"/>
            </a:endParaRPr>
          </a:p>
        </p:txBody>
      </p:sp>
      <p:pic>
        <p:nvPicPr>
          <p:cNvPr id="3" name="Picture 2"/>
          <p:cNvPicPr>
            <a:picLocks noChangeAspect="1"/>
          </p:cNvPicPr>
          <p:nvPr/>
        </p:nvPicPr>
        <p:blipFill>
          <a:blip r:embed="rId1"/>
          <a:stretch>
            <a:fillRect/>
          </a:stretch>
        </p:blipFill>
        <p:spPr>
          <a:xfrm>
            <a:off x="539115" y="332740"/>
            <a:ext cx="6398895" cy="2347595"/>
          </a:xfrm>
          <a:prstGeom prst="rect">
            <a:avLst/>
          </a:prstGeom>
        </p:spPr>
      </p:pic>
      <p:pic>
        <p:nvPicPr>
          <p:cNvPr id="4" name="Picture 3"/>
          <p:cNvPicPr>
            <a:picLocks noChangeAspect="1"/>
          </p:cNvPicPr>
          <p:nvPr/>
        </p:nvPicPr>
        <p:blipFill>
          <a:blip r:embed="rId2"/>
          <a:stretch>
            <a:fillRect/>
          </a:stretch>
        </p:blipFill>
        <p:spPr>
          <a:xfrm>
            <a:off x="394970" y="2708910"/>
            <a:ext cx="8108315" cy="1654810"/>
          </a:xfrm>
          <a:prstGeom prst="rect">
            <a:avLst/>
          </a:prstGeom>
        </p:spPr>
      </p:pic>
      <p:pic>
        <p:nvPicPr>
          <p:cNvPr id="5" name="Picture 4"/>
          <p:cNvPicPr>
            <a:picLocks noChangeAspect="1"/>
          </p:cNvPicPr>
          <p:nvPr/>
        </p:nvPicPr>
        <p:blipFill>
          <a:blip r:embed="rId3"/>
          <a:stretch>
            <a:fillRect/>
          </a:stretch>
        </p:blipFill>
        <p:spPr>
          <a:xfrm>
            <a:off x="621665" y="4868545"/>
            <a:ext cx="7881620" cy="1334770"/>
          </a:xfrm>
          <a:prstGeom prst="rect">
            <a:avLst/>
          </a:prstGeom>
        </p:spPr>
      </p:pic>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7132</Words>
  <Application>WPS Presentation</Application>
  <PresentationFormat>On-screen Show (4:3)</PresentationFormat>
  <Paragraphs>113</Paragraphs>
  <Slides>21</Slides>
  <Notes>71</Notes>
  <HiddenSlides>0</HiddenSlides>
  <MMClips>0</MMClips>
  <ScaleCrop>false</ScaleCrop>
  <HeadingPairs>
    <vt:vector size="6" baseType="variant">
      <vt:variant>
        <vt:lpstr>已用的字体</vt:lpstr>
      </vt:variant>
      <vt:variant>
        <vt:i4>18</vt:i4>
      </vt:variant>
      <vt:variant>
        <vt:lpstr>主题</vt:lpstr>
      </vt:variant>
      <vt:variant>
        <vt:i4>2</vt:i4>
      </vt:variant>
      <vt:variant>
        <vt:lpstr>幻灯片标题</vt:lpstr>
      </vt:variant>
      <vt:variant>
        <vt:i4>21</vt:i4>
      </vt:variant>
    </vt:vector>
  </HeadingPairs>
  <TitlesOfParts>
    <vt:vector size="41" baseType="lpstr">
      <vt:lpstr>Arial</vt:lpstr>
      <vt:lpstr>SimSun</vt:lpstr>
      <vt:lpstr>Wingdings</vt:lpstr>
      <vt:lpstr>Calibri</vt:lpstr>
      <vt:lpstr>Times New Roman</vt:lpstr>
      <vt:lpstr>Arial Black</vt:lpstr>
      <vt:lpstr>Roboto</vt:lpstr>
      <vt:lpstr>Mangal</vt:lpstr>
      <vt:lpstr>Segoe UI</vt:lpstr>
      <vt:lpstr>Wingdings</vt:lpstr>
      <vt:lpstr>Microsoft YaHei</vt:lpstr>
      <vt:lpstr>Arial Unicode MS</vt:lpstr>
      <vt:lpstr>Tahoma</vt:lpstr>
      <vt:lpstr>TimesLTStd-Roman</vt:lpstr>
      <vt:lpstr>Segoe Print</vt:lpstr>
      <vt:lpstr>Arial</vt:lpstr>
      <vt:lpstr>Roboto</vt:lpstr>
      <vt:lpstr>Google Sans</vt:lpstr>
      <vt:lpstr>Default Design</vt:lpstr>
      <vt:lpstr>1_Default Design</vt:lpstr>
      <vt:lpstr>Alcohols &amp; Phenols, Ethers &amp; Epoxides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Rupesh Kumar Gupta</cp:lastModifiedBy>
  <cp:revision>65</cp:revision>
  <dcterms:created xsi:type="dcterms:W3CDTF">2018-01-30T08:51:00Z</dcterms:created>
  <dcterms:modified xsi:type="dcterms:W3CDTF">2026-02-27T05:22:45Z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9CC0A0E2048B44179B2CDC2483BF342E_13</vt:lpwstr>
  </property>
  <property fmtid="{D5CDD505-2E9C-101B-9397-08002B2CF9AE}" pid="3" name="KSOProductBuildVer">
    <vt:lpwstr>1033-12.2.0.23196</vt:lpwstr>
  </property>
</Properties>
</file>